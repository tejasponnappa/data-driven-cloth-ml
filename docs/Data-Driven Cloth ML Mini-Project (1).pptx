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Tejas. Introduce yourselves and the project in one sentence: we reproduced a research paper (Xue and Wu, Stanford CS229, 2021) on predicting how clothing deforms from a character's pose with a neural network. About 8 to 10 minutes plus the live demo and Q&amp;A. Structure: the topic, the original paper, what we did, the problem statement, the dataset, the approach, the implementation, then demo, results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Tejas. Explain the topic in plain words. Clothes on a moving character can be produced three ways. A physics simulation solves the cloth's equations step by step: very realistic but slow (the paper reports about 180 seconds for one coat). Skinning attaches the cloth to the skeleton: instant, but the cloth looks stiff. The data-driven idea is to run the slow simulation offline for many poses, then train a model that predicts the simulated cloth from the pose, so it runs in milliseconds. Our project implements and tests this third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Tejas. The paper is a Stanford CS229 project report by Kangrui Xue and Jane Wu. They simulated 10,000 poses of a coat with Blender (skinning) and PhysBAM (cloth simulation). A fully connected network takes the 14 joint quaternions (56 numbers) and predicts PCA coefficients of the coat's vertex offsets; a fixed PCA layer turns them into the 6,510 offsets (2,170 vertices times 3). They compared predicting the offsets directly, 256, 128 and 64 PCA components, and a linear regression baseline. Their best model used 128 components with a test cost of 1.50e-4, about 2.6 times lower than the linear baseline at 3.83e-4. The network predicts in about 0.1 ms on a GPU, versus about 180 s for the procedural simulator on a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Tejas. Give the four steps in one breath. We built a dataset in the same format as the paper's, implemented PCA, the neural network and the linear baseline in PyTorch, ran the same ablation as the paper (predict the offsets directly, or 256, 128 or 64 PCA components, 1,000 epochs each), and then evaluated on a held-out test set, produced plots and built a live demo. The next slides go through each part in the order of the written report: problem statement, dataset, approach, implementation, then results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Tejas. This is a supervised regression problem. The input is the pose: 14 joint rotations as quaternions, 56 numbers. The output is, for every cloth vertex, the offset between the cheap skinned cloth and the simulated cloth, 3 numbers per vertex. The goal is to learn this map with a neural network, so a prediction takes milliseconds, and to compare it with a linear regression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Tejas. The paper's coat dataset (Blender skinning plus PhysBAM simulation) is not publicly available, so we generate a dataset with the same shape. Random joint rotations go through a fixed nonlinear function to give per-vertex offsets of a 20 by 25 panel, plus a little noise. About 1% of samples are deliberately made faulty to mimic bad simulations, and an outlier filter (median plus 5 robust standard deviations of the largest vertex displacement) removes them, like the paper's distance threshold. Split: 6,000 train, 2,000 validation and the rest for test. PCA is fitted on training data only to avoid leakage. If asked why synthetic: the original data is not public, and public cloth datasets we know of cover other garments and use a different body model, so we kept the paper's setup. Be clear that results are on this generated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Mukesh (this is the part his modules pca.py and model.py implement). Walk left to right. The MLP has two hidden ReLU layers (128 and 256 units) and outputs k PCA coefficients. The PCA layer is a fixed linear layer built from the top-k principal components of the training offsets plus the mean, so the loss is the mean squared error on the reconstructed vertex offsets. PCA reduces the output from 1,500 numbers to k. Training uses Adam, learning rate 1e-4, batch size 32, 1,000 epochs as in the paper; we keep the checkpoint with the best validation loss. The baseline is linear regression, which is a network with no hidden layers; we solve it in closed form by least squares. The ablation compares predicting the offsets directly with k = 256, 128 and 64. Likely question: why PCA? Answer: cloth offsets are strongly correlated across vertices, so a few components describe them; it makes the output layer and the model much smaller and acts as a regulariser.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presenters. Suggested split: Tejas covers data.py, train.py and demo.py; Mukesh covers pca.py, model.py and evaluate.py (the three modules he added to the repository). Mention that the repository is private and shared with the faculty, that the README has setup and run commands, and that run_all.bat regenerates the data, trains all models and produces the plots and results table. Mukesh's files in one sentence each: pca.py fits PCA with an SVD on the training offsets and gives the top-k components; model.py defines the MLP whose last step is a fixed linear layer built from those components, plus the closed-form linear baseline; evaluate.py loads each trained model, computes test error, per-vertex error and timing, and draws the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Tejas. Before the review starts, run python demo.py --model pca128 --compare linreg and keep the window open. Left to right: the ground-truth cloth, the pca128 prediction, the linear-regression prediction, and the error map of pca128. Use the left and right arrow keys to step through test poses and show three or four of them. The numbers on the next slide show the difference between the models. If the window fails to open, this screenshot is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Mukesh (evaluate.py produces these numbers and plots). Test set, seed 0. Predicting the training mean gives an MSE of 1.83; linear regression 0.392; all four neural networks between 0.250 and 0.254, which is about 35 percent lower than linear regression. The four networks are within about 1.5 percent of each other, so we describe them as performing alike rather than ranking them. In the paper, 128 components was best; on our generated data every choice of k performs alike. Training took 459 to 537 seconds per model for 1,000 epochs. Prediction takes about 0.1 to 0.2 ms per pose on a CPU. Likely question: what is vertex error? Answer: the mean Euclidean distance, in cm, between predicted and true position of each cloth vertex.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Mukesh (pca.py computes this). Left plot: cumulative explained variance of the offsets against the number of components. Right plot: the reconstruction error that even a perfect predictor would still have, on the test set. By 64 components that floor is about 0.002 in MSE, compared with a model error of about 0.25, so PCA is not what limits accuracy. 64 components give a network with 56.8 thousand trainable parameters versus 425.8 thousand for direct prediction, 7.5 times fewer, at essentially the same accuracy (0.250 versus 0.251). The 99.8 percent figure is approximate (about 99.87 percent, from the reconstruction error relative to the total variance). Likely question: why not use fewer than 64? Answer: the curve is flat beyond about 50 to 64 components, so fewer would start to lose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Tejas. Summarise the three findings, then how they compare with the paper. We reproduce the main trends: the neural network clearly beats linear regression and PCA gives a much smaller model at the same accuracy. The paper's preference for 128 components does not show up on our generated data, where all choices of k perform alike; the likely reason is that our generated offsets are smooth and low-rank, and we would test this with real simulated cloth. Future work: real simulated cloth, for example from a mass-spring simulation; several random seeds; and temporal information, since the paper notes its formulation has no temporal coherence.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02274"/>
            <a:ext cx="10566436" cy="391147"/>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2" y="1798221"/>
            <a:ext cx="10566418" cy="42469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02274"/>
            <a:ext cx="10566436" cy="391147"/>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2" y="1798221"/>
            <a:ext cx="10566418" cy="42469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82" y="812782"/>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B44C"/>
                </a:solidFill>
                <a:latin typeface="IBM Plex Sans" pitchFamily="34" charset="0"/>
                <a:ea typeface="IBM Plex Sans" pitchFamily="34" charset="-122"/>
                <a:cs typeface="IBM Plex Sans" pitchFamily="34" charset="-120"/>
              </a:rPr>
              <a:t>UE24CS352A MACHINE LEARNING · MINI-PROJECT 2026</a:t>
            </a:r>
            <a:endParaRPr lang="en-US" sz="1200" dirty="0"/>
          </a:p>
        </p:txBody>
      </p:sp>
      <p:sp>
        <p:nvSpPr>
          <p:cNvPr id="3" name="Text 1"/>
          <p:cNvSpPr/>
          <p:nvPr>
            <p:ph type="title"/>
          </p:nvPr>
        </p:nvSpPr>
        <p:spPr>
          <a:xfrm>
            <a:off x="812782" y="2380032"/>
            <a:ext cx="10883429" cy="1366477"/>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E"/>
                </a:solidFill>
                <a:latin typeface="EB Garamond" pitchFamily="18" charset="0"/>
                <a:ea typeface="EB Garamond" pitchFamily="18" charset="-122"/>
                <a:cs typeface="EB Garamond" pitchFamily="18" charset="-120"/>
              </a:rPr>
              <a:t>Data-Driven Cloth for Interactive Applications</a:t>
            </a:r>
            <a:endParaRPr lang="en-US" sz="4800" dirty="0"/>
          </a:p>
        </p:txBody>
      </p:sp>
      <p:sp>
        <p:nvSpPr>
          <p:cNvPr id="4" name="Text 2"/>
          <p:cNvSpPr/>
          <p:nvPr/>
        </p:nvSpPr>
        <p:spPr>
          <a:xfrm>
            <a:off x="812782" y="3924282"/>
            <a:ext cx="10883429"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D5DCE8"/>
                </a:solidFill>
                <a:latin typeface="IBM Plex Sans" pitchFamily="34" charset="0"/>
                <a:ea typeface="IBM Plex Sans" pitchFamily="34" charset="-122"/>
                <a:cs typeface="IBM Plex Sans" pitchFamily="34" charset="-120"/>
              </a:rPr>
              <a:t>Predicting cloth deformation from pose with PCA and a neural network</a:t>
            </a:r>
            <a:endParaRPr lang="en-US" sz="1800" dirty="0"/>
          </a:p>
        </p:txBody>
      </p:sp>
      <p:sp>
        <p:nvSpPr>
          <p:cNvPr id="5" name="Text 3"/>
          <p:cNvSpPr/>
          <p:nvPr/>
        </p:nvSpPr>
        <p:spPr>
          <a:xfrm>
            <a:off x="812782" y="5575327"/>
            <a:ext cx="10883429"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9B44C"/>
                </a:solidFill>
                <a:latin typeface="IBM Plex Sans" pitchFamily="34" charset="0"/>
                <a:ea typeface="IBM Plex Sans" pitchFamily="34" charset="-122"/>
                <a:cs typeface="IBM Plex Sans" pitchFamily="34" charset="-120"/>
              </a:rPr>
              <a:t>Tejas Ponnappa · PES1UG24CS498  |  Mukesh Sheregar · PES1UG24CS828</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TOPIC</a:t>
            </a:r>
            <a:endParaRPr lang="en-US" sz="1200" dirty="0"/>
          </a:p>
        </p:txBody>
      </p:sp>
      <p:sp>
        <p:nvSpPr>
          <p:cNvPr id="3" name="Text 1"/>
          <p:cNvSpPr/>
          <p:nvPr>
            <p:ph type="title"/>
          </p:nvPr>
        </p:nvSpPr>
        <p:spPr>
          <a:xfrm>
            <a:off x="812782" y="1102275"/>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Making clothing move realistically, in real time</a:t>
            </a:r>
            <a:endParaRPr lang="en-US" sz="2800" dirty="0"/>
          </a:p>
        </p:txBody>
      </p:sp>
      <p:sp>
        <p:nvSpPr>
          <p:cNvPr id="4" name="Text 2"/>
          <p:cNvSpPr/>
          <p:nvPr/>
        </p:nvSpPr>
        <p:spPr>
          <a:xfrm>
            <a:off x="812782" y="1747422"/>
            <a:ext cx="10883429"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Games, VR and online try-on need clothing that reacts to the body instantly. There are three ways to get there.</a:t>
            </a:r>
            <a:endParaRPr lang="en-US" sz="1500" dirty="0"/>
          </a:p>
        </p:txBody>
      </p:sp>
      <p:sp>
        <p:nvSpPr>
          <p:cNvPr id="5" name="Shape 3"/>
          <p:cNvSpPr/>
          <p:nvPr/>
        </p:nvSpPr>
        <p:spPr>
          <a:xfrm>
            <a:off x="815957" y="2271270"/>
            <a:ext cx="3384180" cy="1652136"/>
          </a:xfrm>
          <a:prstGeom prst="roundRect">
            <a:avLst>
              <a:gd name="adj" fmla="val 5957"/>
            </a:avLst>
          </a:prstGeom>
          <a:solidFill>
            <a:srgbClr val="FFFDF8"/>
          </a:solidFill>
          <a:ln w="6350">
            <a:solidFill>
              <a:srgbClr val="DDD8CC"/>
            </a:solidFill>
            <a:prstDash val="solid"/>
          </a:ln>
        </p:spPr>
      </p:sp>
      <p:sp>
        <p:nvSpPr>
          <p:cNvPr id="6" name="Text 4"/>
          <p:cNvSpPr/>
          <p:nvPr/>
        </p:nvSpPr>
        <p:spPr>
          <a:xfrm>
            <a:off x="1072555" y="2527868"/>
            <a:ext cx="2957114"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Physics simulation</a:t>
            </a:r>
            <a:endParaRPr lang="en-US" sz="1800" dirty="0"/>
          </a:p>
        </p:txBody>
      </p:sp>
      <p:sp>
        <p:nvSpPr>
          <p:cNvPr id="7" name="Text 5"/>
          <p:cNvSpPr/>
          <p:nvPr/>
        </p:nvSpPr>
        <p:spPr>
          <a:xfrm>
            <a:off x="1072555" y="2878336"/>
            <a:ext cx="2957114" cy="55874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Very realistic, but slow: about 180 s for one coat in the paper.</a:t>
            </a:r>
            <a:endParaRPr lang="en-US" sz="1500" dirty="0"/>
          </a:p>
        </p:txBody>
      </p:sp>
      <p:sp>
        <p:nvSpPr>
          <p:cNvPr id="8" name="Shape 6"/>
          <p:cNvSpPr/>
          <p:nvPr/>
        </p:nvSpPr>
        <p:spPr>
          <a:xfrm>
            <a:off x="4409660" y="2271270"/>
            <a:ext cx="3384225" cy="1652136"/>
          </a:xfrm>
          <a:prstGeom prst="roundRect">
            <a:avLst>
              <a:gd name="adj" fmla="val 5957"/>
            </a:avLst>
          </a:prstGeom>
          <a:solidFill>
            <a:srgbClr val="FFFDF8"/>
          </a:solidFill>
          <a:ln w="6350">
            <a:solidFill>
              <a:srgbClr val="DDD8CC"/>
            </a:solidFill>
            <a:prstDash val="solid"/>
          </a:ln>
        </p:spPr>
      </p:sp>
      <p:sp>
        <p:nvSpPr>
          <p:cNvPr id="9" name="Text 7"/>
          <p:cNvSpPr/>
          <p:nvPr/>
        </p:nvSpPr>
        <p:spPr>
          <a:xfrm>
            <a:off x="4666258" y="2527868"/>
            <a:ext cx="2957161"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Skinning</a:t>
            </a:r>
            <a:endParaRPr lang="en-US" sz="1800" dirty="0"/>
          </a:p>
        </p:txBody>
      </p:sp>
      <p:sp>
        <p:nvSpPr>
          <p:cNvPr id="10" name="Text 8"/>
          <p:cNvSpPr/>
          <p:nvPr/>
        </p:nvSpPr>
        <p:spPr>
          <a:xfrm>
            <a:off x="4666258" y="2878336"/>
            <a:ext cx="2957161" cy="55874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Instant, but the cloth just follows the skeleton and looks stiff.</a:t>
            </a:r>
            <a:endParaRPr lang="en-US" sz="1500" dirty="0"/>
          </a:p>
        </p:txBody>
      </p:sp>
      <p:sp>
        <p:nvSpPr>
          <p:cNvPr id="11" name="Shape 9"/>
          <p:cNvSpPr/>
          <p:nvPr/>
        </p:nvSpPr>
        <p:spPr>
          <a:xfrm>
            <a:off x="8000233" y="2268095"/>
            <a:ext cx="3378984" cy="1658486"/>
          </a:xfrm>
          <a:prstGeom prst="roundRect">
            <a:avLst>
              <a:gd name="adj" fmla="val 6126"/>
            </a:avLst>
          </a:prstGeom>
          <a:solidFill>
            <a:srgbClr val="14213D"/>
          </a:solidFill>
          <a:ln/>
        </p:spPr>
      </p:sp>
      <p:sp>
        <p:nvSpPr>
          <p:cNvPr id="12" name="Text 10"/>
          <p:cNvSpPr/>
          <p:nvPr/>
        </p:nvSpPr>
        <p:spPr>
          <a:xfrm>
            <a:off x="8254233" y="2522095"/>
            <a:ext cx="2957114"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B44C"/>
                </a:solidFill>
                <a:latin typeface="EB Garamond" pitchFamily="18" charset="0"/>
                <a:ea typeface="EB Garamond" pitchFamily="18" charset="-122"/>
                <a:cs typeface="EB Garamond" pitchFamily="18" charset="-120"/>
              </a:rPr>
              <a:t>Data-driven</a:t>
            </a:r>
            <a:endParaRPr lang="en-US" sz="1800" dirty="0"/>
          </a:p>
        </p:txBody>
      </p:sp>
      <p:sp>
        <p:nvSpPr>
          <p:cNvPr id="13" name="Text 11"/>
          <p:cNvSpPr/>
          <p:nvPr/>
        </p:nvSpPr>
        <p:spPr>
          <a:xfrm>
            <a:off x="8254233" y="2872563"/>
            <a:ext cx="2957114" cy="82541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Learn the cloth's behaviour from simulated examples, then predict it in milliseconds.</a:t>
            </a:r>
            <a:endParaRPr lang="en-US" sz="1500" dirty="0"/>
          </a:p>
        </p:txBody>
      </p:sp>
      <p:sp>
        <p:nvSpPr>
          <p:cNvPr id="14" name="Text 12"/>
          <p:cNvSpPr/>
          <p:nvPr/>
        </p:nvSpPr>
        <p:spPr>
          <a:xfrm>
            <a:off x="812782" y="6238289"/>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This project is about the third approach</a:t>
            </a:r>
            <a:endParaRPr lang="en-US" sz="1200" dirty="0"/>
          </a:p>
        </p:txBody>
      </p:sp>
      <p:sp>
        <p:nvSpPr>
          <p:cNvPr id="15" name="Text 13"/>
          <p:cNvSpPr/>
          <p:nvPr/>
        </p:nvSpPr>
        <p:spPr>
          <a:xfrm>
            <a:off x="10058418" y="6238289"/>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ORIGINAL PAPER</a:t>
            </a:r>
            <a:endParaRPr lang="en-US" sz="1200" dirty="0"/>
          </a:p>
        </p:txBody>
      </p:sp>
      <p:sp>
        <p:nvSpPr>
          <p:cNvPr id="3" name="Text 1"/>
          <p:cNvSpPr/>
          <p:nvPr>
            <p:ph type="title"/>
          </p:nvPr>
        </p:nvSpPr>
        <p:spPr>
          <a:xfrm>
            <a:off x="812782" y="1102275"/>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Xue &amp; Wu (Stanford CS229, 2021)</a:t>
            </a:r>
            <a:endParaRPr lang="en-US" sz="2800" dirty="0"/>
          </a:p>
        </p:txBody>
      </p:sp>
      <p:sp>
        <p:nvSpPr>
          <p:cNvPr id="4" name="Shape 2"/>
          <p:cNvSpPr/>
          <p:nvPr/>
        </p:nvSpPr>
        <p:spPr>
          <a:xfrm>
            <a:off x="815957" y="1750597"/>
            <a:ext cx="5175259" cy="3583024"/>
          </a:xfrm>
          <a:prstGeom prst="roundRect">
            <a:avLst>
              <a:gd name="adj" fmla="val 2747"/>
            </a:avLst>
          </a:prstGeom>
          <a:solidFill>
            <a:srgbClr val="FFFDF8"/>
          </a:solidFill>
          <a:ln w="6350">
            <a:solidFill>
              <a:srgbClr val="DDD8CC"/>
            </a:solidFill>
            <a:prstDash val="solid"/>
          </a:ln>
        </p:spPr>
      </p:sp>
      <p:sp>
        <p:nvSpPr>
          <p:cNvPr id="5" name="Text 3"/>
          <p:cNvSpPr/>
          <p:nvPr/>
        </p:nvSpPr>
        <p:spPr>
          <a:xfrm>
            <a:off x="1072555" y="1981758"/>
            <a:ext cx="4801925"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What they did</a:t>
            </a:r>
            <a:endParaRPr lang="en-US" sz="1800" dirty="0"/>
          </a:p>
        </p:txBody>
      </p:sp>
      <p:sp>
        <p:nvSpPr>
          <p:cNvPr id="6" name="Text 4"/>
          <p:cNvSpPr/>
          <p:nvPr/>
        </p:nvSpPr>
        <p:spPr>
          <a:xfrm>
            <a:off x="1143675" y="2332227"/>
            <a:ext cx="4723185" cy="2311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Simulated 10,000 coat poses with Blender + PhysBAM</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Pose (56 numbers) → MLP → PCA coefficients → 6,510 vertex offsets</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Compared direct offsets, 256 / 128 / 64 PCs and linear regression</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Prediction takes about 0.1 ms on a GPU, versus about 180 s for the simulator</a:t>
            </a:r>
            <a:endParaRPr lang="en-US" sz="1500" dirty="0"/>
          </a:p>
        </p:txBody>
      </p:sp>
      <p:sp>
        <p:nvSpPr>
          <p:cNvPr id="7" name="Shape 5"/>
          <p:cNvSpPr/>
          <p:nvPr/>
        </p:nvSpPr>
        <p:spPr>
          <a:xfrm>
            <a:off x="6200739" y="1750597"/>
            <a:ext cx="5175304" cy="3583024"/>
          </a:xfrm>
          <a:prstGeom prst="roundRect">
            <a:avLst>
              <a:gd name="adj" fmla="val 2747"/>
            </a:avLst>
          </a:prstGeom>
          <a:solidFill>
            <a:srgbClr val="FFFDF8"/>
          </a:solidFill>
          <a:ln w="6350">
            <a:solidFill>
              <a:srgbClr val="DDD8CC"/>
            </a:solidFill>
            <a:prstDash val="solid"/>
          </a:ln>
        </p:spPr>
      </p:sp>
      <p:sp>
        <p:nvSpPr>
          <p:cNvPr id="8" name="Text 6"/>
          <p:cNvSpPr/>
          <p:nvPr/>
        </p:nvSpPr>
        <p:spPr>
          <a:xfrm>
            <a:off x="6457336" y="1981758"/>
            <a:ext cx="4801972"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What they found</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68882" y="2343772"/>
          <a:ext cx="4650563" cy="2469194"/>
        </p:xfrm>
        <a:graphic>
          <a:graphicData uri="http://schemas.openxmlformats.org/drawingml/2006/table">
            <a:tbl>
              <a:tblPr/>
              <a:tblGrid>
                <a:gridCol w="2883349"/>
                <a:gridCol w="1767214"/>
              </a:tblGrid>
              <a:tr h="411532">
                <a:tc>
                  <a:txBody>
                    <a:bodyPr/>
                    <a:lstStyle/>
                    <a:p>
                      <a:pPr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Model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Test cost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Linear regression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3.83e-4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direct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1.59e-4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 PCA 256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1.53e-4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 PCA 128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1.50e-4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 PCA 64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1.57e-4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0" name="Text 7"/>
          <p:cNvSpPr/>
          <p:nvPr/>
        </p:nvSpPr>
        <p:spPr>
          <a:xfrm>
            <a:off x="6457336" y="4889139"/>
            <a:ext cx="48019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Lower is better. From Table 1 of the paper.</a:t>
            </a:r>
            <a:endParaRPr lang="en-US" sz="1200" dirty="0"/>
          </a:p>
        </p:txBody>
      </p:sp>
      <p:sp>
        <p:nvSpPr>
          <p:cNvPr id="11" name="Text 8"/>
          <p:cNvSpPr/>
          <p:nvPr/>
        </p:nvSpPr>
        <p:spPr>
          <a:xfrm>
            <a:off x="812782" y="6238287"/>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Best result: 128 PCA components, about 2.6× lower error than linear regression</a:t>
            </a:r>
            <a:endParaRPr lang="en-US" sz="1200" dirty="0"/>
          </a:p>
        </p:txBody>
      </p:sp>
      <p:sp>
        <p:nvSpPr>
          <p:cNvPr id="12" name="Text 9"/>
          <p:cNvSpPr/>
          <p:nvPr/>
        </p:nvSpPr>
        <p:spPr>
          <a:xfrm>
            <a:off x="10058418" y="6238287"/>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WHAT WE DID</a:t>
            </a:r>
            <a:endParaRPr lang="en-US" sz="1200" dirty="0"/>
          </a:p>
        </p:txBody>
      </p:sp>
      <p:sp>
        <p:nvSpPr>
          <p:cNvPr id="3" name="Text 1"/>
          <p:cNvSpPr/>
          <p:nvPr>
            <p:ph type="title"/>
          </p:nvPr>
        </p:nvSpPr>
        <p:spPr>
          <a:xfrm>
            <a:off x="812782" y="1102274"/>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We rebuilt the paper's pipeline end to end</a:t>
            </a:r>
            <a:endParaRPr lang="en-US" sz="2800" dirty="0"/>
          </a:p>
        </p:txBody>
      </p:sp>
      <p:sp>
        <p:nvSpPr>
          <p:cNvPr id="4" name="Shape 2"/>
          <p:cNvSpPr/>
          <p:nvPr/>
        </p:nvSpPr>
        <p:spPr>
          <a:xfrm>
            <a:off x="815957" y="1750597"/>
            <a:ext cx="2482868" cy="1879483"/>
          </a:xfrm>
          <a:prstGeom prst="roundRect">
            <a:avLst>
              <a:gd name="adj" fmla="val 5237"/>
            </a:avLst>
          </a:prstGeom>
          <a:solidFill>
            <a:srgbClr val="FFFDF8"/>
          </a:solidFill>
          <a:ln w="6350">
            <a:solidFill>
              <a:srgbClr val="DDD8CC"/>
            </a:solidFill>
            <a:prstDash val="solid"/>
          </a:ln>
        </p:spPr>
      </p:sp>
      <p:sp>
        <p:nvSpPr>
          <p:cNvPr id="5" name="Text 3"/>
          <p:cNvSpPr/>
          <p:nvPr/>
        </p:nvSpPr>
        <p:spPr>
          <a:xfrm>
            <a:off x="1047119" y="1981758"/>
            <a:ext cx="2081161"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1. Dataset</a:t>
            </a:r>
            <a:endParaRPr lang="en-US" sz="1800" dirty="0"/>
          </a:p>
        </p:txBody>
      </p:sp>
      <p:sp>
        <p:nvSpPr>
          <p:cNvPr id="6" name="Text 4"/>
          <p:cNvSpPr/>
          <p:nvPr/>
        </p:nvSpPr>
        <p:spPr>
          <a:xfrm>
            <a:off x="1047119" y="2332227"/>
            <a:ext cx="2081161" cy="10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Generated 10,000 poses with cloth offsets, in the paper's format.</a:t>
            </a:r>
            <a:endParaRPr lang="en-US" sz="1500" dirty="0"/>
          </a:p>
        </p:txBody>
      </p:sp>
      <p:sp>
        <p:nvSpPr>
          <p:cNvPr id="7" name="Shape 5"/>
          <p:cNvSpPr/>
          <p:nvPr/>
        </p:nvSpPr>
        <p:spPr>
          <a:xfrm>
            <a:off x="3508348" y="1750597"/>
            <a:ext cx="2482913" cy="1879483"/>
          </a:xfrm>
          <a:prstGeom prst="roundRect">
            <a:avLst>
              <a:gd name="adj" fmla="val 5237"/>
            </a:avLst>
          </a:prstGeom>
          <a:solidFill>
            <a:srgbClr val="FFFDF8"/>
          </a:solidFill>
          <a:ln w="6350">
            <a:solidFill>
              <a:srgbClr val="DDD8CC"/>
            </a:solidFill>
            <a:prstDash val="solid"/>
          </a:ln>
        </p:spPr>
      </p:sp>
      <p:sp>
        <p:nvSpPr>
          <p:cNvPr id="8" name="Text 6"/>
          <p:cNvSpPr/>
          <p:nvPr/>
        </p:nvSpPr>
        <p:spPr>
          <a:xfrm>
            <a:off x="3739509" y="1981758"/>
            <a:ext cx="2081208"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2. Pipeline</a:t>
            </a:r>
            <a:endParaRPr lang="en-US" sz="1800" dirty="0"/>
          </a:p>
        </p:txBody>
      </p:sp>
      <p:sp>
        <p:nvSpPr>
          <p:cNvPr id="9" name="Text 7"/>
          <p:cNvSpPr/>
          <p:nvPr/>
        </p:nvSpPr>
        <p:spPr>
          <a:xfrm>
            <a:off x="3739509" y="2332227"/>
            <a:ext cx="2081208" cy="82541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Implemented PCA, the MLP and a linear baseline in PyTorch.</a:t>
            </a:r>
            <a:endParaRPr lang="en-US" sz="1500" dirty="0"/>
          </a:p>
        </p:txBody>
      </p:sp>
      <p:sp>
        <p:nvSpPr>
          <p:cNvPr id="10" name="Shape 8"/>
          <p:cNvSpPr/>
          <p:nvPr/>
        </p:nvSpPr>
        <p:spPr>
          <a:xfrm>
            <a:off x="6200784" y="1750597"/>
            <a:ext cx="2482868" cy="1879483"/>
          </a:xfrm>
          <a:prstGeom prst="roundRect">
            <a:avLst>
              <a:gd name="adj" fmla="val 5237"/>
            </a:avLst>
          </a:prstGeom>
          <a:solidFill>
            <a:srgbClr val="FFFDF8"/>
          </a:solidFill>
          <a:ln w="6350">
            <a:solidFill>
              <a:srgbClr val="DDD8CC"/>
            </a:solidFill>
            <a:prstDash val="solid"/>
          </a:ln>
        </p:spPr>
      </p:sp>
      <p:sp>
        <p:nvSpPr>
          <p:cNvPr id="11" name="Text 9"/>
          <p:cNvSpPr/>
          <p:nvPr/>
        </p:nvSpPr>
        <p:spPr>
          <a:xfrm>
            <a:off x="6431945" y="1981758"/>
            <a:ext cx="2081161"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3. Ablation</a:t>
            </a:r>
            <a:endParaRPr lang="en-US" sz="1800" dirty="0"/>
          </a:p>
        </p:txBody>
      </p:sp>
      <p:sp>
        <p:nvSpPr>
          <p:cNvPr id="12" name="Text 10"/>
          <p:cNvSpPr/>
          <p:nvPr/>
        </p:nvSpPr>
        <p:spPr>
          <a:xfrm>
            <a:off x="6431945" y="2332227"/>
            <a:ext cx="2081161" cy="82541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Trained direct offsets and 256 / 128 / 64 PCs for 1,000 epochs each.</a:t>
            </a:r>
            <a:endParaRPr lang="en-US" sz="1500" dirty="0"/>
          </a:p>
        </p:txBody>
      </p:sp>
      <p:sp>
        <p:nvSpPr>
          <p:cNvPr id="13" name="Shape 11"/>
          <p:cNvSpPr/>
          <p:nvPr/>
        </p:nvSpPr>
        <p:spPr>
          <a:xfrm>
            <a:off x="8893175" y="1750597"/>
            <a:ext cx="2482868" cy="1879483"/>
          </a:xfrm>
          <a:prstGeom prst="roundRect">
            <a:avLst>
              <a:gd name="adj" fmla="val 5237"/>
            </a:avLst>
          </a:prstGeom>
          <a:solidFill>
            <a:srgbClr val="FFFDF8"/>
          </a:solidFill>
          <a:ln w="6350">
            <a:solidFill>
              <a:srgbClr val="DDD8CC"/>
            </a:solidFill>
            <a:prstDash val="solid"/>
          </a:ln>
        </p:spPr>
      </p:sp>
      <p:sp>
        <p:nvSpPr>
          <p:cNvPr id="14" name="Text 12"/>
          <p:cNvSpPr/>
          <p:nvPr/>
        </p:nvSpPr>
        <p:spPr>
          <a:xfrm>
            <a:off x="9124336" y="1981758"/>
            <a:ext cx="2081161"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4. Evaluation</a:t>
            </a:r>
            <a:endParaRPr lang="en-US" sz="1800" dirty="0"/>
          </a:p>
        </p:txBody>
      </p:sp>
      <p:sp>
        <p:nvSpPr>
          <p:cNvPr id="15" name="Text 13"/>
          <p:cNvSpPr/>
          <p:nvPr/>
        </p:nvSpPr>
        <p:spPr>
          <a:xfrm>
            <a:off x="9124336" y="2332227"/>
            <a:ext cx="2081161" cy="82541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Measured test error, made plots and built a live demo.</a:t>
            </a:r>
            <a:endParaRPr lang="en-US" sz="1500" dirty="0"/>
          </a:p>
        </p:txBody>
      </p:sp>
      <p:sp>
        <p:nvSpPr>
          <p:cNvPr id="16" name="Text 14"/>
          <p:cNvSpPr/>
          <p:nvPr/>
        </p:nvSpPr>
        <p:spPr>
          <a:xfrm>
            <a:off x="812782" y="6238289"/>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Same pipeline as the paper: pose → MLP → PCA → cloth offsets</a:t>
            </a:r>
            <a:endParaRPr lang="en-US" sz="1200" dirty="0"/>
          </a:p>
        </p:txBody>
      </p:sp>
      <p:sp>
        <p:nvSpPr>
          <p:cNvPr id="17" name="Text 15"/>
          <p:cNvSpPr/>
          <p:nvPr/>
        </p:nvSpPr>
        <p:spPr>
          <a:xfrm>
            <a:off x="10058418" y="6238289"/>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PROBLEM STATEMENT</a:t>
            </a:r>
            <a:endParaRPr lang="en-US" sz="1200" dirty="0"/>
          </a:p>
        </p:txBody>
      </p:sp>
      <p:sp>
        <p:nvSpPr>
          <p:cNvPr id="3" name="Text 1"/>
          <p:cNvSpPr/>
          <p:nvPr>
            <p:ph type="title"/>
          </p:nvPr>
        </p:nvSpPr>
        <p:spPr>
          <a:xfrm>
            <a:off x="812782" y="1102274"/>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Predict the cloth's shape from the character's pose</a:t>
            </a:r>
            <a:endParaRPr lang="en-US" sz="2800" dirty="0"/>
          </a:p>
        </p:txBody>
      </p:sp>
      <p:sp>
        <p:nvSpPr>
          <p:cNvPr id="4" name="Text 2"/>
          <p:cNvSpPr/>
          <p:nvPr/>
        </p:nvSpPr>
        <p:spPr>
          <a:xfrm>
            <a:off x="812782" y="1747422"/>
            <a:ext cx="10883429" cy="55874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Simulating one coat takes about 180 s in the paper, but interactive applications need an answer in milliseconds. We learn a fast model that imitates the simulator.</a:t>
            </a:r>
            <a:endParaRPr lang="en-US" sz="1500" dirty="0"/>
          </a:p>
        </p:txBody>
      </p:sp>
      <p:sp>
        <p:nvSpPr>
          <p:cNvPr id="5" name="Shape 3"/>
          <p:cNvSpPr/>
          <p:nvPr/>
        </p:nvSpPr>
        <p:spPr>
          <a:xfrm>
            <a:off x="815957" y="2537941"/>
            <a:ext cx="3380347" cy="1663682"/>
          </a:xfrm>
          <a:prstGeom prst="roundRect">
            <a:avLst>
              <a:gd name="adj" fmla="val 5916"/>
            </a:avLst>
          </a:prstGeom>
          <a:solidFill>
            <a:srgbClr val="FFFDF8"/>
          </a:solidFill>
          <a:ln w="6350">
            <a:solidFill>
              <a:srgbClr val="DDD8CC"/>
            </a:solidFill>
            <a:prstDash val="solid"/>
          </a:ln>
        </p:spPr>
      </p:sp>
      <p:sp>
        <p:nvSpPr>
          <p:cNvPr id="6" name="Text 4"/>
          <p:cNvSpPr/>
          <p:nvPr/>
        </p:nvSpPr>
        <p:spPr>
          <a:xfrm>
            <a:off x="1072555" y="2794540"/>
            <a:ext cx="2953166"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Input</a:t>
            </a:r>
            <a:endParaRPr lang="en-US" sz="1800" dirty="0"/>
          </a:p>
        </p:txBody>
      </p:sp>
      <p:sp>
        <p:nvSpPr>
          <p:cNvPr id="7" name="Text 5"/>
          <p:cNvSpPr/>
          <p:nvPr/>
        </p:nvSpPr>
        <p:spPr>
          <a:xfrm>
            <a:off x="1072555" y="3145008"/>
            <a:ext cx="2953166" cy="82541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The pose: 14 joint rotations as quaternions, 14 × 4 = 56 numbers.</a:t>
            </a:r>
            <a:endParaRPr lang="en-US" sz="1500" dirty="0"/>
          </a:p>
        </p:txBody>
      </p:sp>
      <p:sp>
        <p:nvSpPr>
          <p:cNvPr id="8" name="Shape 6"/>
          <p:cNvSpPr/>
          <p:nvPr/>
        </p:nvSpPr>
        <p:spPr>
          <a:xfrm>
            <a:off x="4405826" y="2537941"/>
            <a:ext cx="3380347" cy="1663682"/>
          </a:xfrm>
          <a:prstGeom prst="roundRect">
            <a:avLst>
              <a:gd name="adj" fmla="val 5916"/>
            </a:avLst>
          </a:prstGeom>
          <a:solidFill>
            <a:srgbClr val="FFFDF8"/>
          </a:solidFill>
          <a:ln w="6350">
            <a:solidFill>
              <a:srgbClr val="DDD8CC"/>
            </a:solidFill>
            <a:prstDash val="solid"/>
          </a:ln>
        </p:spPr>
      </p:sp>
      <p:sp>
        <p:nvSpPr>
          <p:cNvPr id="9" name="Text 7"/>
          <p:cNvSpPr/>
          <p:nvPr/>
        </p:nvSpPr>
        <p:spPr>
          <a:xfrm>
            <a:off x="4662424" y="2794540"/>
            <a:ext cx="2953166"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Output</a:t>
            </a:r>
            <a:endParaRPr lang="en-US" sz="1800" dirty="0"/>
          </a:p>
        </p:txBody>
      </p:sp>
      <p:sp>
        <p:nvSpPr>
          <p:cNvPr id="10" name="Text 8"/>
          <p:cNvSpPr/>
          <p:nvPr/>
        </p:nvSpPr>
        <p:spPr>
          <a:xfrm>
            <a:off x="4662424" y="3145008"/>
            <a:ext cx="2953166" cy="82541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The offset of every cloth vertex between skinned and simulated cloth: 3 numbers per vertex.</a:t>
            </a:r>
            <a:endParaRPr lang="en-US" sz="1500" dirty="0"/>
          </a:p>
        </p:txBody>
      </p:sp>
      <p:sp>
        <p:nvSpPr>
          <p:cNvPr id="11" name="Shape 9"/>
          <p:cNvSpPr/>
          <p:nvPr/>
        </p:nvSpPr>
        <p:spPr>
          <a:xfrm>
            <a:off x="7995696" y="2537941"/>
            <a:ext cx="3380347" cy="1663682"/>
          </a:xfrm>
          <a:prstGeom prst="roundRect">
            <a:avLst>
              <a:gd name="adj" fmla="val 5916"/>
            </a:avLst>
          </a:prstGeom>
          <a:solidFill>
            <a:srgbClr val="FFFDF8"/>
          </a:solidFill>
          <a:ln w="6350">
            <a:solidFill>
              <a:srgbClr val="DDD8CC"/>
            </a:solidFill>
            <a:prstDash val="solid"/>
          </a:ln>
        </p:spPr>
      </p:sp>
      <p:sp>
        <p:nvSpPr>
          <p:cNvPr id="12" name="Text 10"/>
          <p:cNvSpPr/>
          <p:nvPr/>
        </p:nvSpPr>
        <p:spPr>
          <a:xfrm>
            <a:off x="8252294" y="2794540"/>
            <a:ext cx="2953166"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Goal</a:t>
            </a:r>
            <a:endParaRPr lang="en-US" sz="1800" dirty="0"/>
          </a:p>
        </p:txBody>
      </p:sp>
      <p:sp>
        <p:nvSpPr>
          <p:cNvPr id="13" name="Text 11"/>
          <p:cNvSpPr/>
          <p:nvPr/>
        </p:nvSpPr>
        <p:spPr>
          <a:xfrm>
            <a:off x="8252294" y="3145008"/>
            <a:ext cx="2953166" cy="82541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Learn the pose-to-offset map with a neural network and compare it with linear regression.</a:t>
            </a:r>
            <a:endParaRPr lang="en-US" sz="1500" dirty="0"/>
          </a:p>
        </p:txBody>
      </p:sp>
      <p:sp>
        <p:nvSpPr>
          <p:cNvPr id="14" name="Text 12"/>
          <p:cNvSpPr/>
          <p:nvPr/>
        </p:nvSpPr>
        <p:spPr>
          <a:xfrm>
            <a:off x="812782" y="6238289"/>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Supervised regression: 56 inputs, one output value per vertex coordinate</a:t>
            </a:r>
            <a:endParaRPr lang="en-US" sz="1200" dirty="0"/>
          </a:p>
        </p:txBody>
      </p:sp>
      <p:sp>
        <p:nvSpPr>
          <p:cNvPr id="15" name="Text 13"/>
          <p:cNvSpPr/>
          <p:nvPr/>
        </p:nvSpPr>
        <p:spPr>
          <a:xfrm>
            <a:off x="10058418" y="6238289"/>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DATASET</a:t>
            </a:r>
            <a:endParaRPr lang="en-US" sz="1200" dirty="0"/>
          </a:p>
        </p:txBody>
      </p:sp>
      <p:sp>
        <p:nvSpPr>
          <p:cNvPr id="3" name="Text 1"/>
          <p:cNvSpPr/>
          <p:nvPr>
            <p:ph type="title"/>
          </p:nvPr>
        </p:nvSpPr>
        <p:spPr>
          <a:xfrm>
            <a:off x="812782" y="1102274"/>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Dataset: generated in the paper's format</a:t>
            </a:r>
            <a:endParaRPr lang="en-US" sz="2800" dirty="0"/>
          </a:p>
        </p:txBody>
      </p:sp>
      <p:sp>
        <p:nvSpPr>
          <p:cNvPr id="4" name="Shape 2"/>
          <p:cNvSpPr/>
          <p:nvPr/>
        </p:nvSpPr>
        <p:spPr>
          <a:xfrm>
            <a:off x="815957" y="1750597"/>
            <a:ext cx="5175259" cy="2527291"/>
          </a:xfrm>
          <a:prstGeom prst="roundRect">
            <a:avLst>
              <a:gd name="adj" fmla="val 3894"/>
            </a:avLst>
          </a:prstGeom>
          <a:solidFill>
            <a:srgbClr val="FFFDF8"/>
          </a:solidFill>
          <a:ln w="6350">
            <a:solidFill>
              <a:srgbClr val="DDD8CC"/>
            </a:solidFill>
            <a:prstDash val="solid"/>
          </a:ln>
        </p:spPr>
      </p:sp>
      <p:sp>
        <p:nvSpPr>
          <p:cNvPr id="5" name="Text 3"/>
          <p:cNvSpPr/>
          <p:nvPr/>
        </p:nvSpPr>
        <p:spPr>
          <a:xfrm>
            <a:off x="1072555" y="1981758"/>
            <a:ext cx="4801925"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Paper (Xue &amp; Wu)</a:t>
            </a:r>
            <a:endParaRPr lang="en-US" sz="1800" dirty="0"/>
          </a:p>
        </p:txBody>
      </p:sp>
      <p:sp>
        <p:nvSpPr>
          <p:cNvPr id="6" name="Text 4"/>
          <p:cNvSpPr/>
          <p:nvPr/>
        </p:nvSpPr>
        <p:spPr>
          <a:xfrm>
            <a:off x="1143675" y="2332227"/>
            <a:ext cx="4723185"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10,000 coat poses, Blender + PhysBAM</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2,170 vertices, so 6,510 outputs</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9,813 kept after an outlier filter</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Split 6,000 / 2,000 / 1,813</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Dataset not publicly available</a:t>
            </a:r>
            <a:endParaRPr lang="en-US" sz="1500" dirty="0"/>
          </a:p>
        </p:txBody>
      </p:sp>
      <p:sp>
        <p:nvSpPr>
          <p:cNvPr id="7" name="Shape 5"/>
          <p:cNvSpPr/>
          <p:nvPr/>
        </p:nvSpPr>
        <p:spPr>
          <a:xfrm>
            <a:off x="6200739" y="1750597"/>
            <a:ext cx="5175304" cy="2527291"/>
          </a:xfrm>
          <a:prstGeom prst="roundRect">
            <a:avLst>
              <a:gd name="adj" fmla="val 3894"/>
            </a:avLst>
          </a:prstGeom>
          <a:solidFill>
            <a:srgbClr val="FFFDF8"/>
          </a:solidFill>
          <a:ln w="6350">
            <a:solidFill>
              <a:srgbClr val="DDD8CC"/>
            </a:solidFill>
            <a:prstDash val="solid"/>
          </a:ln>
        </p:spPr>
      </p:sp>
      <p:sp>
        <p:nvSpPr>
          <p:cNvPr id="8" name="Text 6"/>
          <p:cNvSpPr/>
          <p:nvPr/>
        </p:nvSpPr>
        <p:spPr>
          <a:xfrm>
            <a:off x="6457336" y="1981758"/>
            <a:ext cx="4801972"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Ours (synthetic)</a:t>
            </a:r>
            <a:endParaRPr lang="en-US" sz="1800" dirty="0"/>
          </a:p>
        </p:txBody>
      </p:sp>
      <p:sp>
        <p:nvSpPr>
          <p:cNvPr id="9" name="Text 7"/>
          <p:cNvSpPr/>
          <p:nvPr/>
        </p:nvSpPr>
        <p:spPr>
          <a:xfrm>
            <a:off x="6528456" y="2332227"/>
            <a:ext cx="4723232" cy="17399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10,000 random poses, 14 joints, 56 inputs</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20 × 25 cloth panel, so 1,500 outputs</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Fixed nonlinear pose-to-offset function plus noise</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About 1% faulty samples, removed by an outlier filter</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Same split: 6,000 / 2,000 / rest</a:t>
            </a:r>
            <a:endParaRPr lang="en-US" sz="1500" dirty="0"/>
          </a:p>
        </p:txBody>
      </p:sp>
      <p:sp>
        <p:nvSpPr>
          <p:cNvPr id="10" name="Text 8"/>
          <p:cNvSpPr/>
          <p:nvPr/>
        </p:nvSpPr>
        <p:spPr>
          <a:xfrm>
            <a:off x="812782" y="4535063"/>
            <a:ext cx="10566436" cy="622237"/>
          </a:xfrm>
          <a:prstGeom prst="roundRect">
            <a:avLst>
              <a:gd name="adj" fmla="val 12246"/>
            </a:avLst>
          </a:prstGeom>
          <a:solidFill>
            <a:srgbClr val="14213D"/>
          </a:solidFill>
          <a:ln/>
        </p:spPr>
        <p:txBody>
          <a:bodyPr wrap="square" lIns="231682" tIns="155482" rIns="0" bIns="130046"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Built to mirror the paper's setup, so the whole pipeline can be trained and tested end to end.</a:t>
            </a:r>
            <a:endParaRPr lang="en-US" sz="1500" dirty="0"/>
          </a:p>
        </p:txBody>
      </p:sp>
      <p:sp>
        <p:nvSpPr>
          <p:cNvPr id="11" name="Text 9"/>
          <p:cNvSpPr/>
          <p:nvPr/>
        </p:nvSpPr>
        <p:spPr>
          <a:xfrm>
            <a:off x="812782" y="6238286"/>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PCA is fitted on training data only</a:t>
            </a:r>
            <a:endParaRPr lang="en-US" sz="1200" dirty="0"/>
          </a:p>
        </p:txBody>
      </p:sp>
      <p:sp>
        <p:nvSpPr>
          <p:cNvPr id="12" name="Text 10"/>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APPROACH</a:t>
            </a:r>
            <a:endParaRPr lang="en-US" sz="1200" dirty="0"/>
          </a:p>
        </p:txBody>
      </p:sp>
      <p:sp>
        <p:nvSpPr>
          <p:cNvPr id="3" name="Text 1"/>
          <p:cNvSpPr/>
          <p:nvPr>
            <p:ph type="title"/>
          </p:nvPr>
        </p:nvSpPr>
        <p:spPr>
          <a:xfrm>
            <a:off x="812782" y="1102274"/>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Pose goes in, cloth offsets come out</a:t>
            </a:r>
            <a:endParaRPr lang="en-US" sz="2800" dirty="0"/>
          </a:p>
        </p:txBody>
      </p:sp>
      <p:sp>
        <p:nvSpPr>
          <p:cNvPr id="4" name="Shape 2"/>
          <p:cNvSpPr/>
          <p:nvPr/>
        </p:nvSpPr>
        <p:spPr>
          <a:xfrm>
            <a:off x="815957" y="1750597"/>
            <a:ext cx="1788788" cy="1041355"/>
          </a:xfrm>
          <a:prstGeom prst="roundRect">
            <a:avLst>
              <a:gd name="adj" fmla="val 9452"/>
            </a:avLst>
          </a:prstGeom>
          <a:solidFill>
            <a:srgbClr val="FFFDF8"/>
          </a:solidFill>
          <a:ln w="6350">
            <a:solidFill>
              <a:srgbClr val="DDD8CC"/>
            </a:solidFill>
            <a:prstDash val="solid"/>
          </a:ln>
        </p:spPr>
      </p:sp>
      <p:sp>
        <p:nvSpPr>
          <p:cNvPr id="5" name="Text 3"/>
          <p:cNvSpPr/>
          <p:nvPr/>
        </p:nvSpPr>
        <p:spPr>
          <a:xfrm>
            <a:off x="970946" y="1905586"/>
            <a:ext cx="152961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Pose</a:t>
            </a:r>
            <a:endParaRPr lang="en-US" sz="1500" dirty="0"/>
          </a:p>
        </p:txBody>
      </p:sp>
      <p:sp>
        <p:nvSpPr>
          <p:cNvPr id="6" name="Text 4"/>
          <p:cNvSpPr/>
          <p:nvPr/>
        </p:nvSpPr>
        <p:spPr>
          <a:xfrm>
            <a:off x="970946" y="2210321"/>
            <a:ext cx="1529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52"/>
                </a:solidFill>
                <a:latin typeface="IBM Plex Sans" pitchFamily="34" charset="0"/>
                <a:ea typeface="IBM Plex Sans" pitchFamily="34" charset="-122"/>
                <a:cs typeface="IBM Plex Sans" pitchFamily="34" charset="-120"/>
              </a:rPr>
              <a:t>56 joint quaternions</a:t>
            </a:r>
            <a:endParaRPr lang="en-US" sz="1200" dirty="0"/>
          </a:p>
        </p:txBody>
      </p:sp>
      <p:pic>
        <p:nvPicPr>
          <p:cNvPr id="7" name="Image 0" descr="arrow-right">    </p:cNvPr>
          <p:cNvPicPr>
            <a:picLocks noChangeAspect="1"/>
          </p:cNvPicPr>
          <p:nvPr/>
        </p:nvPicPr>
        <p:blipFill>
          <a:blip r:embed="rId1"/>
          <a:srcRect l="-5" r="-5" t="0" b="0"/>
          <a:stretch/>
        </p:blipFill>
        <p:spPr>
          <a:xfrm>
            <a:off x="2684093" y="2182360"/>
            <a:ext cx="254000" cy="177782"/>
          </a:xfrm>
          <a:prstGeom prst="rect">
            <a:avLst/>
          </a:prstGeom>
        </p:spPr>
      </p:pic>
      <p:sp>
        <p:nvSpPr>
          <p:cNvPr id="8" name="Shape 5"/>
          <p:cNvSpPr/>
          <p:nvPr/>
        </p:nvSpPr>
        <p:spPr>
          <a:xfrm>
            <a:off x="3014265" y="1747422"/>
            <a:ext cx="1783592" cy="1047705"/>
          </a:xfrm>
          <a:prstGeom prst="roundRect">
            <a:avLst>
              <a:gd name="adj" fmla="val 9697"/>
            </a:avLst>
          </a:prstGeom>
          <a:solidFill>
            <a:srgbClr val="17757A"/>
          </a:solidFill>
          <a:ln/>
        </p:spPr>
      </p:sp>
      <p:sp>
        <p:nvSpPr>
          <p:cNvPr id="9" name="Text 6"/>
          <p:cNvSpPr/>
          <p:nvPr/>
        </p:nvSpPr>
        <p:spPr>
          <a:xfrm>
            <a:off x="3166657" y="1899813"/>
            <a:ext cx="152961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MLP</a:t>
            </a:r>
            <a:endParaRPr lang="en-US" sz="1500" dirty="0"/>
          </a:p>
        </p:txBody>
      </p:sp>
      <p:sp>
        <p:nvSpPr>
          <p:cNvPr id="10" name="Text 7"/>
          <p:cNvSpPr/>
          <p:nvPr/>
        </p:nvSpPr>
        <p:spPr>
          <a:xfrm>
            <a:off x="3166657" y="2204548"/>
            <a:ext cx="15296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128, 256 hidden units, ReLU</a:t>
            </a:r>
            <a:endParaRPr lang="en-US" sz="1200" dirty="0"/>
          </a:p>
        </p:txBody>
      </p:sp>
      <p:pic>
        <p:nvPicPr>
          <p:cNvPr id="11" name="Image 1" descr="arrow-right">    </p:cNvPr>
          <p:cNvPicPr>
            <a:picLocks noChangeAspect="1"/>
          </p:cNvPicPr>
          <p:nvPr/>
        </p:nvPicPr>
        <p:blipFill>
          <a:blip r:embed="rId2"/>
          <a:srcRect l="-5" r="-5" t="0" b="0"/>
          <a:stretch/>
        </p:blipFill>
        <p:spPr>
          <a:xfrm>
            <a:off x="4874031" y="2182360"/>
            <a:ext cx="254000" cy="177782"/>
          </a:xfrm>
          <a:prstGeom prst="rect">
            <a:avLst/>
          </a:prstGeom>
        </p:spPr>
      </p:pic>
      <p:sp>
        <p:nvSpPr>
          <p:cNvPr id="12" name="Shape 8"/>
          <p:cNvSpPr/>
          <p:nvPr/>
        </p:nvSpPr>
        <p:spPr>
          <a:xfrm>
            <a:off x="5204204" y="1747422"/>
            <a:ext cx="1783592" cy="1047705"/>
          </a:xfrm>
          <a:prstGeom prst="roundRect">
            <a:avLst>
              <a:gd name="adj" fmla="val 9697"/>
            </a:avLst>
          </a:prstGeom>
          <a:solidFill>
            <a:srgbClr val="17757A"/>
          </a:solidFill>
          <a:ln/>
        </p:spPr>
      </p:sp>
      <p:sp>
        <p:nvSpPr>
          <p:cNvPr id="13" name="Text 9"/>
          <p:cNvSpPr/>
          <p:nvPr/>
        </p:nvSpPr>
        <p:spPr>
          <a:xfrm>
            <a:off x="5356595" y="1899813"/>
            <a:ext cx="152961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PCA coeffs</a:t>
            </a:r>
            <a:endParaRPr lang="en-US" sz="1500" dirty="0"/>
          </a:p>
        </p:txBody>
      </p:sp>
      <p:sp>
        <p:nvSpPr>
          <p:cNvPr id="14" name="Text 10"/>
          <p:cNvSpPr/>
          <p:nvPr/>
        </p:nvSpPr>
        <p:spPr>
          <a:xfrm>
            <a:off x="5356595" y="2204548"/>
            <a:ext cx="1529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k = 64, 128 or 256</a:t>
            </a:r>
            <a:endParaRPr lang="en-US" sz="1200" dirty="0"/>
          </a:p>
        </p:txBody>
      </p:sp>
      <p:pic>
        <p:nvPicPr>
          <p:cNvPr id="15" name="Image 2" descr="arrow-right">    </p:cNvPr>
          <p:cNvPicPr>
            <a:picLocks noChangeAspect="1"/>
          </p:cNvPicPr>
          <p:nvPr/>
        </p:nvPicPr>
        <p:blipFill>
          <a:blip r:embed="rId3"/>
          <a:srcRect l="-5" r="-5" t="0" b="0"/>
          <a:stretch/>
        </p:blipFill>
        <p:spPr>
          <a:xfrm>
            <a:off x="7063969" y="2182360"/>
            <a:ext cx="254000" cy="177782"/>
          </a:xfrm>
          <a:prstGeom prst="rect">
            <a:avLst/>
          </a:prstGeom>
        </p:spPr>
      </p:pic>
      <p:sp>
        <p:nvSpPr>
          <p:cNvPr id="16" name="Shape 11"/>
          <p:cNvSpPr/>
          <p:nvPr/>
        </p:nvSpPr>
        <p:spPr>
          <a:xfrm>
            <a:off x="7394142" y="1747422"/>
            <a:ext cx="1783592" cy="1047705"/>
          </a:xfrm>
          <a:prstGeom prst="roundRect">
            <a:avLst>
              <a:gd name="adj" fmla="val 9697"/>
            </a:avLst>
          </a:prstGeom>
          <a:solidFill>
            <a:srgbClr val="14213D"/>
          </a:solidFill>
          <a:ln/>
        </p:spPr>
      </p:sp>
      <p:sp>
        <p:nvSpPr>
          <p:cNvPr id="17" name="Text 12"/>
          <p:cNvSpPr/>
          <p:nvPr/>
        </p:nvSpPr>
        <p:spPr>
          <a:xfrm>
            <a:off x="7546532" y="1899813"/>
            <a:ext cx="152961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PCA layer</a:t>
            </a:r>
            <a:endParaRPr lang="en-US" sz="1500" dirty="0"/>
          </a:p>
        </p:txBody>
      </p:sp>
      <p:sp>
        <p:nvSpPr>
          <p:cNvPr id="18" name="Text 13"/>
          <p:cNvSpPr/>
          <p:nvPr/>
        </p:nvSpPr>
        <p:spPr>
          <a:xfrm>
            <a:off x="7546532" y="2204548"/>
            <a:ext cx="1529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fixed, not trained</a:t>
            </a:r>
            <a:endParaRPr lang="en-US" sz="1200" dirty="0"/>
          </a:p>
        </p:txBody>
      </p:sp>
      <p:pic>
        <p:nvPicPr>
          <p:cNvPr id="19" name="Image 3" descr="arrow-right">    </p:cNvPr>
          <p:cNvPicPr>
            <a:picLocks noChangeAspect="1"/>
          </p:cNvPicPr>
          <p:nvPr/>
        </p:nvPicPr>
        <p:blipFill>
          <a:blip r:embed="rId4"/>
          <a:srcRect l="-5" r="-5" t="0" b="0"/>
          <a:stretch/>
        </p:blipFill>
        <p:spPr>
          <a:xfrm>
            <a:off x="9253907" y="2182360"/>
            <a:ext cx="254000" cy="177782"/>
          </a:xfrm>
          <a:prstGeom prst="rect">
            <a:avLst/>
          </a:prstGeom>
        </p:spPr>
      </p:pic>
      <p:sp>
        <p:nvSpPr>
          <p:cNvPr id="20" name="Shape 14"/>
          <p:cNvSpPr/>
          <p:nvPr/>
        </p:nvSpPr>
        <p:spPr>
          <a:xfrm>
            <a:off x="9587255" y="1750597"/>
            <a:ext cx="1788788" cy="1041355"/>
          </a:xfrm>
          <a:prstGeom prst="roundRect">
            <a:avLst>
              <a:gd name="adj" fmla="val 9452"/>
            </a:avLst>
          </a:prstGeom>
          <a:solidFill>
            <a:srgbClr val="FFFDF8"/>
          </a:solidFill>
          <a:ln w="6350">
            <a:solidFill>
              <a:srgbClr val="DDD8CC"/>
            </a:solidFill>
            <a:prstDash val="solid"/>
          </a:ln>
        </p:spPr>
      </p:sp>
      <p:sp>
        <p:nvSpPr>
          <p:cNvPr id="21" name="Text 15"/>
          <p:cNvSpPr/>
          <p:nvPr/>
        </p:nvSpPr>
        <p:spPr>
          <a:xfrm>
            <a:off x="9742243" y="1905586"/>
            <a:ext cx="152961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Offsets</a:t>
            </a:r>
            <a:endParaRPr lang="en-US" sz="1500" dirty="0"/>
          </a:p>
        </p:txBody>
      </p:sp>
      <p:sp>
        <p:nvSpPr>
          <p:cNvPr id="22" name="Text 16"/>
          <p:cNvSpPr/>
          <p:nvPr/>
        </p:nvSpPr>
        <p:spPr>
          <a:xfrm>
            <a:off x="9742243" y="2210321"/>
            <a:ext cx="15296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52"/>
                </a:solidFill>
                <a:latin typeface="IBM Plex Sans" pitchFamily="34" charset="0"/>
                <a:ea typeface="IBM Plex Sans" pitchFamily="34" charset="-122"/>
                <a:cs typeface="IBM Plex Sans" pitchFamily="34" charset="-120"/>
              </a:rPr>
              <a:t>1,500 values per pose</a:t>
            </a:r>
            <a:endParaRPr lang="en-US" sz="1200" dirty="0"/>
          </a:p>
        </p:txBody>
      </p:sp>
      <p:sp>
        <p:nvSpPr>
          <p:cNvPr id="23" name="Text 17"/>
          <p:cNvSpPr/>
          <p:nvPr/>
        </p:nvSpPr>
        <p:spPr>
          <a:xfrm>
            <a:off x="812782" y="28966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Teal = trained, navy = fixed. k is the number of principal components kept.</a:t>
            </a:r>
            <a:endParaRPr lang="en-US" sz="1200" dirty="0"/>
          </a:p>
        </p:txBody>
      </p:sp>
      <p:sp>
        <p:nvSpPr>
          <p:cNvPr id="24" name="Shape 18"/>
          <p:cNvSpPr/>
          <p:nvPr/>
        </p:nvSpPr>
        <p:spPr>
          <a:xfrm>
            <a:off x="815957" y="3367184"/>
            <a:ext cx="3380347" cy="1612810"/>
          </a:xfrm>
          <a:prstGeom prst="roundRect">
            <a:avLst>
              <a:gd name="adj" fmla="val 6103"/>
            </a:avLst>
          </a:prstGeom>
          <a:solidFill>
            <a:srgbClr val="FFFDF8"/>
          </a:solidFill>
          <a:ln w="6350">
            <a:solidFill>
              <a:srgbClr val="DDD8CC"/>
            </a:solidFill>
            <a:prstDash val="solid"/>
          </a:ln>
        </p:spPr>
      </p:sp>
      <p:sp>
        <p:nvSpPr>
          <p:cNvPr id="25" name="Text 19"/>
          <p:cNvSpPr/>
          <p:nvPr/>
        </p:nvSpPr>
        <p:spPr>
          <a:xfrm>
            <a:off x="1072555" y="3598348"/>
            <a:ext cx="2953166"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PCA</a:t>
            </a:r>
            <a:endParaRPr lang="en-US" sz="1800" dirty="0"/>
          </a:p>
        </p:txBody>
      </p:sp>
      <p:sp>
        <p:nvSpPr>
          <p:cNvPr id="26" name="Text 20"/>
          <p:cNvSpPr/>
          <p:nvPr/>
        </p:nvSpPr>
        <p:spPr>
          <a:xfrm>
            <a:off x="1072555" y="3948813"/>
            <a:ext cx="2953166" cy="55874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Fitted on training offsets only; keeps the top-k directions.</a:t>
            </a:r>
            <a:endParaRPr lang="en-US" sz="1500" dirty="0"/>
          </a:p>
        </p:txBody>
      </p:sp>
      <p:sp>
        <p:nvSpPr>
          <p:cNvPr id="27" name="Shape 21"/>
          <p:cNvSpPr/>
          <p:nvPr/>
        </p:nvSpPr>
        <p:spPr>
          <a:xfrm>
            <a:off x="4405826" y="3367184"/>
            <a:ext cx="3380347" cy="1612810"/>
          </a:xfrm>
          <a:prstGeom prst="roundRect">
            <a:avLst>
              <a:gd name="adj" fmla="val 6103"/>
            </a:avLst>
          </a:prstGeom>
          <a:solidFill>
            <a:srgbClr val="FFFDF8"/>
          </a:solidFill>
          <a:ln w="6350">
            <a:solidFill>
              <a:srgbClr val="DDD8CC"/>
            </a:solidFill>
            <a:prstDash val="solid"/>
          </a:ln>
        </p:spPr>
      </p:sp>
      <p:sp>
        <p:nvSpPr>
          <p:cNvPr id="28" name="Text 22"/>
          <p:cNvSpPr/>
          <p:nvPr/>
        </p:nvSpPr>
        <p:spPr>
          <a:xfrm>
            <a:off x="4662424" y="3598348"/>
            <a:ext cx="2953166"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Training</a:t>
            </a:r>
            <a:endParaRPr lang="en-US" sz="1800" dirty="0"/>
          </a:p>
        </p:txBody>
      </p:sp>
      <p:sp>
        <p:nvSpPr>
          <p:cNvPr id="29" name="Text 23"/>
          <p:cNvSpPr/>
          <p:nvPr/>
        </p:nvSpPr>
        <p:spPr>
          <a:xfrm>
            <a:off x="4662424" y="3948813"/>
            <a:ext cx="2953166" cy="55874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MSE on offsets, Adam, lr 1e-4, batch 32, 1,000 epochs.</a:t>
            </a:r>
            <a:endParaRPr lang="en-US" sz="1500" dirty="0"/>
          </a:p>
        </p:txBody>
      </p:sp>
      <p:sp>
        <p:nvSpPr>
          <p:cNvPr id="30" name="Shape 24"/>
          <p:cNvSpPr/>
          <p:nvPr/>
        </p:nvSpPr>
        <p:spPr>
          <a:xfrm>
            <a:off x="7995696" y="3367184"/>
            <a:ext cx="3380347" cy="1612810"/>
          </a:xfrm>
          <a:prstGeom prst="roundRect">
            <a:avLst>
              <a:gd name="adj" fmla="val 6103"/>
            </a:avLst>
          </a:prstGeom>
          <a:solidFill>
            <a:srgbClr val="FFFDF8"/>
          </a:solidFill>
          <a:ln w="6350">
            <a:solidFill>
              <a:srgbClr val="DDD8CC"/>
            </a:solidFill>
            <a:prstDash val="solid"/>
          </a:ln>
        </p:spPr>
      </p:sp>
      <p:sp>
        <p:nvSpPr>
          <p:cNvPr id="31" name="Text 25"/>
          <p:cNvSpPr/>
          <p:nvPr/>
        </p:nvSpPr>
        <p:spPr>
          <a:xfrm>
            <a:off x="8252294" y="3598348"/>
            <a:ext cx="2953166"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Baseline</a:t>
            </a:r>
            <a:endParaRPr lang="en-US" sz="1800" dirty="0"/>
          </a:p>
        </p:txBody>
      </p:sp>
      <p:sp>
        <p:nvSpPr>
          <p:cNvPr id="32" name="Text 26"/>
          <p:cNvSpPr/>
          <p:nvPr/>
        </p:nvSpPr>
        <p:spPr>
          <a:xfrm>
            <a:off x="8252294" y="3948813"/>
            <a:ext cx="2953166" cy="82541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Linear regression, no hidden layer; also direct offsets without PCA.</a:t>
            </a:r>
            <a:endParaRPr lang="en-US" sz="1500" dirty="0"/>
          </a:p>
        </p:txBody>
      </p:sp>
      <p:sp>
        <p:nvSpPr>
          <p:cNvPr id="33" name="Text 27"/>
          <p:cNvSpPr/>
          <p:nvPr/>
        </p:nvSpPr>
        <p:spPr>
          <a:xfrm>
            <a:off x="812782" y="6238286"/>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Loss is measured on the reconstructed vertex offsets</a:t>
            </a:r>
            <a:endParaRPr lang="en-US" sz="1200" dirty="0"/>
          </a:p>
        </p:txBody>
      </p:sp>
      <p:sp>
        <p:nvSpPr>
          <p:cNvPr id="34" name="Text 28"/>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4"/>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IMPLEMENTATION</a:t>
            </a:r>
            <a:endParaRPr lang="en-US" sz="1200" dirty="0"/>
          </a:p>
        </p:txBody>
      </p:sp>
      <p:sp>
        <p:nvSpPr>
          <p:cNvPr id="3" name="Text 1"/>
          <p:cNvSpPr/>
          <p:nvPr>
            <p:ph type="title"/>
          </p:nvPr>
        </p:nvSpPr>
        <p:spPr>
          <a:xfrm>
            <a:off x="812782" y="1102277"/>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Six small files, each with one job</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758971"/>
          <a:ext cx="10554890" cy="2880726"/>
        </p:xfrm>
        <a:graphic>
          <a:graphicData uri="http://schemas.openxmlformats.org/drawingml/2006/table">
            <a:tbl>
              <a:tblPr/>
              <a:tblGrid>
                <a:gridCol w="2744271"/>
                <a:gridCol w="7810619"/>
              </a:tblGrid>
              <a:tr h="411532">
                <a:tc>
                  <a:txBody>
                    <a:bodyPr/>
                    <a:lstStyle/>
                    <a:p>
                      <a:pPr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File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What it does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src/data.py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Generates the data, filters outliers, splits train / val / test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src/pca.py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BB8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BB8AE"/>
                      </a:solidFill>
                      <a:prstDash val="solid"/>
                      <a:round/>
                      <a:headEnd type="none" w="med" len="med"/>
                      <a:tailEnd type="none" w="med" len="med"/>
                    </a:lnB>
                    <a:solidFill>
                      <a:srgbClr val="EAE6DA"/>
                    </a:solidFill>
                  </a:tcPr>
                </a:tc>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PCA by SVD on the training offsets, top-k components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BB8AE"/>
                      </a:solidFill>
                      <a:prstDash val="solid"/>
                      <a:round/>
                      <a:headEnd type="none" w="med" len="med"/>
                      <a:tailEnd type="none" w="med" len="med"/>
                    </a:lnL>
                    <a:lnR w="12700" cap="flat" cmpd="sng" algn="ctr">
                      <a:solidFill>
                        <a:srgbClr val="BBB8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BB8AE"/>
                      </a:solidFill>
                      <a:prstDash val="solid"/>
                      <a:round/>
                      <a:headEnd type="none" w="med" len="med"/>
                      <a:tailEnd type="none" w="med" len="med"/>
                    </a:lnB>
                    <a:solidFill>
                      <a:srgbClr val="EAE6DA"/>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src/model.py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BB8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with a fixed PCA layer; closed-form linear baseline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BB8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src/train.py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BB8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BB8AE"/>
                      </a:solidFill>
                      <a:prstDash val="solid"/>
                      <a:round/>
                      <a:headEnd type="none" w="med" len="med"/>
                      <a:tailEnd type="none" w="med" len="med"/>
                    </a:lnB>
                    <a:solidFill>
                      <a:srgbClr val="EAE6DA"/>
                    </a:solidFill>
                  </a:tcPr>
                </a:tc>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Training loop; keeps the best-validation checkpoint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BB8AE"/>
                      </a:solidFill>
                      <a:prstDash val="solid"/>
                      <a:round/>
                      <a:headEnd type="none" w="med" len="med"/>
                      <a:tailEnd type="none" w="med" len="med"/>
                    </a:lnL>
                    <a:lnR w="12700" cap="flat" cmpd="sng" algn="ctr">
                      <a:solidFill>
                        <a:srgbClr val="BBB8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BB8AE"/>
                      </a:solidFill>
                      <a:prstDash val="solid"/>
                      <a:round/>
                      <a:headEnd type="none" w="med" len="med"/>
                      <a:tailEnd type="none" w="med" len="med"/>
                    </a:lnB>
                    <a:solidFill>
                      <a:srgbClr val="EAE6DA"/>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src/evaluate.py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BB8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Test metrics, timing and all the plots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BB8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demo.py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BB8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BB8AE"/>
                      </a:solidFill>
                      <a:prstDash val="solid"/>
                      <a:round/>
                      <a:headEnd type="none" w="med" len="med"/>
                      <a:tailEnd type="none" w="med" len="med"/>
                    </a:lnB>
                    <a:solidFill>
                      <a:srgbClr val="EAE6DA"/>
                    </a:solidFill>
                  </a:tcPr>
                </a:tc>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Live viewer: ground truth vs predicted cloth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BB8AE"/>
                      </a:solidFill>
                      <a:prstDash val="solid"/>
                      <a:round/>
                      <a:headEnd type="none" w="med" len="med"/>
                      <a:tailEnd type="none" w="med" len="med"/>
                    </a:lnL>
                    <a:lnR w="12700" cap="flat" cmpd="sng" algn="ctr">
                      <a:solidFill>
                        <a:srgbClr val="BBB8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BB8AE"/>
                      </a:solidFill>
                      <a:prstDash val="solid"/>
                      <a:round/>
                      <a:headEnd type="none" w="med" len="med"/>
                      <a:tailEnd type="none" w="med" len="med"/>
                    </a:lnB>
                    <a:solidFill>
                      <a:srgbClr val="EAE6DA"/>
                    </a:solidFill>
                  </a:tcPr>
                </a:tc>
              </a:tr>
            </a:tbl>
          </a:graphicData>
        </a:graphic>
      </p:graphicFrame>
      <p:sp>
        <p:nvSpPr>
          <p:cNvPr id="5" name="Text 2"/>
          <p:cNvSpPr/>
          <p:nvPr/>
        </p:nvSpPr>
        <p:spPr>
          <a:xfrm>
            <a:off x="812782" y="4893695"/>
            <a:ext cx="10883429"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PyTorch, NumPy, Matplotlib. Private GitHub repo with a README; one script reproduces every result.</a:t>
            </a:r>
            <a:endParaRPr lang="en-US" sz="1500" dirty="0"/>
          </a:p>
        </p:txBody>
      </p:sp>
      <p:sp>
        <p:nvSpPr>
          <p:cNvPr id="6" name="Text 3"/>
          <p:cNvSpPr/>
          <p:nvPr/>
        </p:nvSpPr>
        <p:spPr>
          <a:xfrm>
            <a:off x="812782" y="6238289"/>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Run: python -m src.train --name pca128 --mode pca --k 128</a:t>
            </a:r>
            <a:endParaRPr lang="en-US" sz="1200" dirty="0"/>
          </a:p>
        </p:txBody>
      </p:sp>
      <p:sp>
        <p:nvSpPr>
          <p:cNvPr id="7" name="Text 4"/>
          <p:cNvSpPr/>
          <p:nvPr/>
        </p:nvSpPr>
        <p:spPr>
          <a:xfrm>
            <a:off x="10058418" y="6238289"/>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LIVE DEMO</a:t>
            </a:r>
            <a:endParaRPr lang="en-US" sz="1200" dirty="0"/>
          </a:p>
        </p:txBody>
      </p:sp>
      <p:sp>
        <p:nvSpPr>
          <p:cNvPr id="3" name="Text 1"/>
          <p:cNvSpPr/>
          <p:nvPr>
            <p:ph type="title"/>
          </p:nvPr>
        </p:nvSpPr>
        <p:spPr>
          <a:xfrm>
            <a:off x="812782" y="1102271"/>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Ground truth vs prediction on a test pose</a:t>
            </a:r>
            <a:endParaRPr lang="en-US" sz="2800" dirty="0"/>
          </a:p>
        </p:txBody>
      </p:sp>
      <p:sp>
        <p:nvSpPr>
          <p:cNvPr id="4" name="Shape 2"/>
          <p:cNvSpPr/>
          <p:nvPr/>
        </p:nvSpPr>
        <p:spPr>
          <a:xfrm>
            <a:off x="1333500" y="1747422"/>
            <a:ext cx="9525000" cy="3175000"/>
          </a:xfrm>
          <a:prstGeom prst="roundRect">
            <a:avLst>
              <a:gd name="adj" fmla="val 2400"/>
            </a:avLst>
          </a:prstGeom>
          <a:solidFill>
            <a:srgbClr val="FFFFFF"/>
          </a:solidFill>
          <a:ln/>
        </p:spPr>
      </p:sp>
      <p:pic>
        <p:nvPicPr>
          <p:cNvPr id="5" name="Image 0" descr="Four 3D cloth surfaces for a test pose: ground truth, pca128 prediction, linear regression prediction, and the error of pca128">    </p:cNvPr>
          <p:cNvPicPr>
            <a:picLocks noChangeAspect="1"/>
          </p:cNvPicPr>
          <p:nvPr/>
        </p:nvPicPr>
        <p:blipFill>
          <a:blip r:embed="rId1"/>
          <a:srcRect l="0" r="0" t="-391" b="-391"/>
          <a:stretch/>
        </p:blipFill>
        <p:spPr>
          <a:xfrm>
            <a:off x="1339850" y="1753772"/>
            <a:ext cx="9512300" cy="3162300"/>
          </a:xfrm>
          <a:prstGeom prst="roundRect">
            <a:avLst>
              <a:gd name="adj" fmla="val 2209"/>
            </a:avLst>
          </a:prstGeom>
        </p:spPr>
      </p:pic>
      <p:sp>
        <p:nvSpPr>
          <p:cNvPr id="6" name="Shape 3"/>
          <p:cNvSpPr/>
          <p:nvPr/>
        </p:nvSpPr>
        <p:spPr>
          <a:xfrm>
            <a:off x="1336675" y="1750597"/>
            <a:ext cx="9518650" cy="3168650"/>
          </a:xfrm>
          <a:prstGeom prst="roundRect">
            <a:avLst>
              <a:gd name="adj" fmla="val 2305"/>
            </a:avLst>
          </a:prstGeom>
          <a:noFill/>
          <a:ln w="6350">
            <a:solidFill>
              <a:srgbClr val="DDD8CC"/>
            </a:solidFill>
            <a:prstDash val="solid"/>
          </a:ln>
        </p:spPr>
      </p:sp>
      <p:sp>
        <p:nvSpPr>
          <p:cNvPr id="7" name="Text 4"/>
          <p:cNvSpPr/>
          <p:nvPr/>
        </p:nvSpPr>
        <p:spPr>
          <a:xfrm>
            <a:off x="812782" y="5176422"/>
            <a:ext cx="10883429"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Left to right: ground truth, pca128, linear regression, error map of pca128. Arrow keys step through test poses.</a:t>
            </a:r>
            <a:endParaRPr lang="en-US" sz="1500" dirty="0"/>
          </a:p>
        </p:txBody>
      </p:sp>
      <p:sp>
        <p:nvSpPr>
          <p:cNvPr id="8" name="Text 5"/>
          <p:cNvSpPr/>
          <p:nvPr/>
        </p:nvSpPr>
        <p:spPr>
          <a:xfrm>
            <a:off x="812782" y="6238286"/>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python demo.py --model pca128 --compare linreg</a:t>
            </a:r>
            <a:endParaRPr lang="en-US" sz="1200" dirty="0"/>
          </a:p>
        </p:txBody>
      </p:sp>
      <p:sp>
        <p:nvSpPr>
          <p:cNvPr id="9" name="Text 6"/>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ph type="title"/>
          </p:nvPr>
        </p:nvSpPr>
        <p:spPr>
          <a:xfrm>
            <a:off x="812782" y="1102271"/>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The neural networks cut the error by about 35%</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758967"/>
          <a:ext cx="5957454" cy="2880726"/>
        </p:xfrm>
        <a:graphic>
          <a:graphicData uri="http://schemas.openxmlformats.org/drawingml/2006/table">
            <a:tbl>
              <a:tblPr/>
              <a:tblGrid>
                <a:gridCol w="2263833"/>
                <a:gridCol w="1310640"/>
                <a:gridCol w="1191491"/>
                <a:gridCol w="1191491"/>
              </a:tblGrid>
              <a:tr h="411532">
                <a:tc>
                  <a:txBody>
                    <a:bodyPr/>
                    <a:lstStyle/>
                    <a:p>
                      <a:pPr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Model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Params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Test MSE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Vertex err.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Predict mean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1.831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Linear regression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85,500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0.392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0.991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direct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425,820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0.251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0.789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 PCA 256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106,112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0.253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0.794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 PCA 128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73,216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0.254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0.795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r>
              <a:tr h="411532">
                <a:tc>
                  <a:txBody>
                    <a:bodyPr/>
                    <a:lstStyle/>
                    <a:p>
                      <a:pP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MLP + PCA 64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56,768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0.250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c>
                  <a:txBody>
                    <a:bodyPr/>
                    <a:lstStyle/>
                    <a:p>
                      <a:pPr algn="r"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0.790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1BCBB"/>
                      </a:solidFill>
                      <a:prstDash val="solid"/>
                      <a:round/>
                      <a:headEnd type="none" w="med" len="med"/>
                      <a:tailEnd type="none" w="med" len="med"/>
                    </a:lnL>
                    <a:lnR w="12700" cap="flat" cmpd="sng" algn="ctr">
                      <a:solidFill>
                        <a:srgbClr val="B1BCBB"/>
                      </a:solidFill>
                      <a:prstDash val="solid"/>
                      <a:round/>
                      <a:headEnd type="none" w="med" len="med"/>
                      <a:tailEnd type="none" w="med" len="med"/>
                    </a:lnR>
                    <a:lnT w="12700" cap="flat" cmpd="sng" algn="ctr">
                      <a:solidFill>
                        <a:srgbClr val="B1BCBB"/>
                      </a:solidFill>
                      <a:prstDash val="solid"/>
                      <a:round/>
                      <a:headEnd type="none" w="med" len="med"/>
                      <a:tailEnd type="none" w="med" len="med"/>
                    </a:lnT>
                    <a:lnB w="12700" cap="flat" cmpd="sng" algn="ctr">
                      <a:solidFill>
                        <a:srgbClr val="B1BCBB"/>
                      </a:solidFill>
                      <a:prstDash val="solid"/>
                      <a:round/>
                      <a:headEnd type="none" w="med" len="med"/>
                      <a:tailEnd type="none" w="med" len="med"/>
                    </a:lnB>
                    <a:solidFill>
                      <a:srgbClr val="DDEBEA"/>
                    </a:solidFill>
                  </a:tcPr>
                </a:tc>
              </a:tr>
            </a:tbl>
          </a:graphicData>
        </a:graphic>
      </p:graphicFrame>
      <p:sp>
        <p:nvSpPr>
          <p:cNvPr id="5" name="Shape 2"/>
          <p:cNvSpPr/>
          <p:nvPr/>
        </p:nvSpPr>
        <p:spPr>
          <a:xfrm>
            <a:off x="7086564" y="1747422"/>
            <a:ext cx="4064000" cy="2711423"/>
          </a:xfrm>
          <a:prstGeom prst="roundRect">
            <a:avLst>
              <a:gd name="adj" fmla="val 2810"/>
            </a:avLst>
          </a:prstGeom>
          <a:solidFill>
            <a:srgbClr val="FFFFFF"/>
          </a:solidFill>
          <a:ln/>
        </p:spPr>
      </p:sp>
      <p:pic>
        <p:nvPicPr>
          <p:cNvPr id="6" name="Image 0" descr="Validation MSE against epoch for the direct network and the three PCA networks, all flattening near 0.26">    </p:cNvPr>
          <p:cNvPicPr>
            <a:picLocks noChangeAspect="1"/>
          </p:cNvPicPr>
          <p:nvPr/>
        </p:nvPicPr>
        <p:blipFill>
          <a:blip r:embed="rId1"/>
          <a:srcRect l="-40" r="-40" t="0" b="0"/>
          <a:stretch/>
        </p:blipFill>
        <p:spPr>
          <a:xfrm>
            <a:off x="7092914" y="1753772"/>
            <a:ext cx="4051300" cy="2698723"/>
          </a:xfrm>
          <a:prstGeom prst="roundRect">
            <a:avLst>
              <a:gd name="adj" fmla="val 2588"/>
            </a:avLst>
          </a:prstGeom>
        </p:spPr>
      </p:pic>
      <p:sp>
        <p:nvSpPr>
          <p:cNvPr id="7" name="Shape 3"/>
          <p:cNvSpPr/>
          <p:nvPr/>
        </p:nvSpPr>
        <p:spPr>
          <a:xfrm>
            <a:off x="7089739" y="1750597"/>
            <a:ext cx="4057650" cy="2705073"/>
          </a:xfrm>
          <a:prstGeom prst="roundRect">
            <a:avLst>
              <a:gd name="adj" fmla="val 2700"/>
            </a:avLst>
          </a:prstGeom>
          <a:noFill/>
          <a:ln w="6350">
            <a:solidFill>
              <a:srgbClr val="DDD8CC"/>
            </a:solidFill>
            <a:prstDash val="solid"/>
          </a:ln>
        </p:spPr>
      </p:sp>
      <p:sp>
        <p:nvSpPr>
          <p:cNvPr id="8" name="Text 4"/>
          <p:cNvSpPr/>
          <p:nvPr/>
        </p:nvSpPr>
        <p:spPr>
          <a:xfrm>
            <a:off x="7086564" y="4535016"/>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Validation MSE over 1,000 epochs</a:t>
            </a:r>
            <a:endParaRPr lang="en-US" sz="1200" dirty="0"/>
          </a:p>
        </p:txBody>
      </p:sp>
      <p:sp>
        <p:nvSpPr>
          <p:cNvPr id="9" name="Text 5"/>
          <p:cNvSpPr/>
          <p:nvPr/>
        </p:nvSpPr>
        <p:spPr>
          <a:xfrm>
            <a:off x="812782" y="5002337"/>
            <a:ext cx="10883429"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All four networks reach a similar error, and the PCA versions are up to 7.5× smaller.</a:t>
            </a:r>
            <a:endParaRPr lang="en-US" sz="1500" dirty="0"/>
          </a:p>
        </p:txBody>
      </p:sp>
      <p:sp>
        <p:nvSpPr>
          <p:cNvPr id="10" name="Text 6"/>
          <p:cNvSpPr/>
          <p:nvPr/>
        </p:nvSpPr>
        <p:spPr>
          <a:xfrm>
            <a:off x="812782" y="6238286"/>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Test set (seed 0). MSE in cm², vertex error = mean distance per vertex in cm.</a:t>
            </a:r>
            <a:endParaRPr lang="en-US" sz="1200" dirty="0"/>
          </a:p>
        </p:txBody>
      </p:sp>
      <p:sp>
        <p:nvSpPr>
          <p:cNvPr id="11" name="Text 7"/>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ABLATION</a:t>
            </a:r>
            <a:endParaRPr lang="en-US" sz="1200" dirty="0"/>
          </a:p>
        </p:txBody>
      </p:sp>
      <p:sp>
        <p:nvSpPr>
          <p:cNvPr id="3" name="Text 1"/>
          <p:cNvSpPr/>
          <p:nvPr>
            <p:ph type="title"/>
          </p:nvPr>
        </p:nvSpPr>
        <p:spPr>
          <a:xfrm>
            <a:off x="812782" y="1102271"/>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PCA keeps the accuracy and shrinks the model 7.5×</a:t>
            </a:r>
            <a:endParaRPr lang="en-US" sz="2800" dirty="0"/>
          </a:p>
        </p:txBody>
      </p:sp>
      <p:sp>
        <p:nvSpPr>
          <p:cNvPr id="4" name="Shape 2"/>
          <p:cNvSpPr/>
          <p:nvPr/>
        </p:nvSpPr>
        <p:spPr>
          <a:xfrm>
            <a:off x="812782" y="1747422"/>
            <a:ext cx="6350000" cy="2413000"/>
          </a:xfrm>
          <a:prstGeom prst="roundRect">
            <a:avLst>
              <a:gd name="adj" fmla="val 3158"/>
            </a:avLst>
          </a:prstGeom>
          <a:solidFill>
            <a:srgbClr val="FFFFFF"/>
          </a:solidFill>
          <a:ln/>
        </p:spPr>
      </p:sp>
      <p:pic>
        <p:nvPicPr>
          <p:cNvPr id="5" name="Image 0" descr="Left: cumulative explained variance against number of principal components, reaching nearly 100% by 64. Right: reconstruction error of a perfect predictor, flat beyond 64 components">    </p:cNvPr>
          <p:cNvPicPr>
            <a:picLocks noChangeAspect="1"/>
          </p:cNvPicPr>
          <p:nvPr/>
        </p:nvPicPr>
        <p:blipFill>
          <a:blip r:embed="rId1"/>
          <a:srcRect l="-164" r="-164" t="0" b="0"/>
          <a:stretch/>
        </p:blipFill>
        <p:spPr>
          <a:xfrm>
            <a:off x="819132" y="1753772"/>
            <a:ext cx="6337300" cy="2400300"/>
          </a:xfrm>
          <a:prstGeom prst="roundRect">
            <a:avLst>
              <a:gd name="adj" fmla="val 2910"/>
            </a:avLst>
          </a:prstGeom>
        </p:spPr>
      </p:pic>
      <p:sp>
        <p:nvSpPr>
          <p:cNvPr id="6" name="Shape 3"/>
          <p:cNvSpPr/>
          <p:nvPr/>
        </p:nvSpPr>
        <p:spPr>
          <a:xfrm>
            <a:off x="815957" y="1750597"/>
            <a:ext cx="6343650" cy="2406650"/>
          </a:xfrm>
          <a:prstGeom prst="roundRect">
            <a:avLst>
              <a:gd name="adj" fmla="val 3034"/>
            </a:avLst>
          </a:prstGeom>
          <a:noFill/>
          <a:ln w="6350">
            <a:solidFill>
              <a:srgbClr val="DDD8CC"/>
            </a:solidFill>
            <a:prstDash val="solid"/>
          </a:ln>
        </p:spPr>
      </p:sp>
      <p:sp>
        <p:nvSpPr>
          <p:cNvPr id="7" name="Shape 4"/>
          <p:cNvSpPr/>
          <p:nvPr/>
        </p:nvSpPr>
        <p:spPr>
          <a:xfrm>
            <a:off x="7467564" y="1747422"/>
            <a:ext cx="3911564" cy="1051448"/>
          </a:xfrm>
          <a:prstGeom prst="roundRect">
            <a:avLst>
              <a:gd name="adj" fmla="val 9663"/>
            </a:avLst>
          </a:prstGeom>
          <a:solidFill>
            <a:srgbClr val="14213D"/>
          </a:solidFill>
          <a:ln/>
        </p:spPr>
      </p:sp>
      <p:sp>
        <p:nvSpPr>
          <p:cNvPr id="8" name="Text 5"/>
          <p:cNvSpPr/>
          <p:nvPr/>
        </p:nvSpPr>
        <p:spPr>
          <a:xfrm>
            <a:off x="7696128" y="1925203"/>
            <a:ext cx="3558069" cy="416547"/>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9B44C"/>
                </a:solidFill>
                <a:latin typeface="EB Garamond" pitchFamily="18" charset="0"/>
                <a:ea typeface="EB Garamond" pitchFamily="18" charset="-122"/>
                <a:cs typeface="EB Garamond" pitchFamily="18" charset="-120"/>
              </a:rPr>
              <a:t>over 99.8%</a:t>
            </a:r>
            <a:endParaRPr lang="en-US" sz="2800" dirty="0"/>
          </a:p>
        </p:txBody>
      </p:sp>
      <p:sp>
        <p:nvSpPr>
          <p:cNvPr id="9" name="Text 6"/>
          <p:cNvSpPr/>
          <p:nvPr/>
        </p:nvSpPr>
        <p:spPr>
          <a:xfrm>
            <a:off x="7696128" y="2354411"/>
            <a:ext cx="3683000"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of the offset variance in 64 components</a:t>
            </a:r>
            <a:endParaRPr lang="en-US" sz="1500" dirty="0"/>
          </a:p>
        </p:txBody>
      </p:sp>
      <p:sp>
        <p:nvSpPr>
          <p:cNvPr id="10" name="Shape 7"/>
          <p:cNvSpPr/>
          <p:nvPr/>
        </p:nvSpPr>
        <p:spPr>
          <a:xfrm>
            <a:off x="7467564" y="2951262"/>
            <a:ext cx="3911564" cy="1051448"/>
          </a:xfrm>
          <a:prstGeom prst="roundRect">
            <a:avLst>
              <a:gd name="adj" fmla="val 9663"/>
            </a:avLst>
          </a:prstGeom>
          <a:solidFill>
            <a:srgbClr val="14213D"/>
          </a:solidFill>
          <a:ln/>
        </p:spPr>
      </p:sp>
      <p:sp>
        <p:nvSpPr>
          <p:cNvPr id="11" name="Text 8"/>
          <p:cNvSpPr/>
          <p:nvPr/>
        </p:nvSpPr>
        <p:spPr>
          <a:xfrm>
            <a:off x="7696128" y="3129043"/>
            <a:ext cx="3558069" cy="416547"/>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9B44C"/>
                </a:solidFill>
                <a:latin typeface="EB Garamond" pitchFamily="18" charset="0"/>
                <a:ea typeface="EB Garamond" pitchFamily="18" charset="-122"/>
                <a:cs typeface="EB Garamond" pitchFamily="18" charset="-120"/>
              </a:rPr>
              <a:t>7.5× fewer</a:t>
            </a:r>
            <a:endParaRPr lang="en-US" sz="2800" dirty="0"/>
          </a:p>
        </p:txBody>
      </p:sp>
      <p:sp>
        <p:nvSpPr>
          <p:cNvPr id="12" name="Text 9"/>
          <p:cNvSpPr/>
          <p:nvPr/>
        </p:nvSpPr>
        <p:spPr>
          <a:xfrm>
            <a:off x="7696128" y="3558251"/>
            <a:ext cx="3558069"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parameters: 56.8k vs 425.8k</a:t>
            </a:r>
            <a:endParaRPr lang="en-US" sz="1500" dirty="0"/>
          </a:p>
        </p:txBody>
      </p:sp>
      <p:sp>
        <p:nvSpPr>
          <p:cNvPr id="13" name="Text 10"/>
          <p:cNvSpPr/>
          <p:nvPr/>
        </p:nvSpPr>
        <p:spPr>
          <a:xfrm>
            <a:off x="812782" y="4414422"/>
            <a:ext cx="10883429"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2"/>
                </a:solidFill>
                <a:latin typeface="IBM Plex Sans" pitchFamily="34" charset="0"/>
                <a:ea typeface="IBM Plex Sans" pitchFamily="34" charset="-122"/>
                <a:cs typeface="IBM Plex Sans" pitchFamily="34" charset="-120"/>
              </a:rPr>
              <a:t>With 64 components the reconstruction error is only about 0.002, compared with a model error of about 0.25.</a:t>
            </a:r>
            <a:endParaRPr lang="en-US" sz="1500" dirty="0"/>
          </a:p>
        </p:txBody>
      </p:sp>
      <p:sp>
        <p:nvSpPr>
          <p:cNvPr id="14" name="Text 11"/>
          <p:cNvSpPr/>
          <p:nvPr/>
        </p:nvSpPr>
        <p:spPr>
          <a:xfrm>
            <a:off x="812782" y="6238286"/>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Explained variance and reconstruction error on the test set</a:t>
            </a:r>
            <a:endParaRPr lang="en-US" sz="1200" dirty="0"/>
          </a:p>
        </p:txBody>
      </p:sp>
      <p:sp>
        <p:nvSpPr>
          <p:cNvPr id="15" name="Text 12"/>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57A"/>
                </a:solidFill>
                <a:latin typeface="IBM Plex Sans" pitchFamily="34" charset="0"/>
                <a:ea typeface="IBM Plex Sans" pitchFamily="34" charset="-122"/>
                <a:cs typeface="IBM Plex Sans" pitchFamily="34" charset="-120"/>
              </a:rPr>
              <a:t>CONCLUSIONS</a:t>
            </a:r>
            <a:endParaRPr lang="en-US" sz="1200" dirty="0"/>
          </a:p>
        </p:txBody>
      </p:sp>
      <p:sp>
        <p:nvSpPr>
          <p:cNvPr id="3" name="Text 1"/>
          <p:cNvSpPr/>
          <p:nvPr>
            <p:ph type="title"/>
          </p:nvPr>
        </p:nvSpPr>
        <p:spPr>
          <a:xfrm>
            <a:off x="812782" y="1102271"/>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EB Garamond" pitchFamily="18" charset="0"/>
                <a:ea typeface="EB Garamond" pitchFamily="18" charset="-122"/>
                <a:cs typeface="EB Garamond" pitchFamily="18" charset="-120"/>
              </a:rPr>
              <a:t>Learned cloth is fast, accurate and compact</a:t>
            </a:r>
            <a:endParaRPr lang="en-US" sz="2800" dirty="0"/>
          </a:p>
        </p:txBody>
      </p:sp>
      <p:sp>
        <p:nvSpPr>
          <p:cNvPr id="4" name="Shape 2"/>
          <p:cNvSpPr/>
          <p:nvPr/>
        </p:nvSpPr>
        <p:spPr>
          <a:xfrm>
            <a:off x="815957" y="1750597"/>
            <a:ext cx="5175259" cy="2527291"/>
          </a:xfrm>
          <a:prstGeom prst="roundRect">
            <a:avLst>
              <a:gd name="adj" fmla="val 3894"/>
            </a:avLst>
          </a:prstGeom>
          <a:solidFill>
            <a:srgbClr val="FFFDF8"/>
          </a:solidFill>
          <a:ln w="6350">
            <a:solidFill>
              <a:srgbClr val="DDD8CC"/>
            </a:solidFill>
            <a:prstDash val="solid"/>
          </a:ln>
        </p:spPr>
      </p:sp>
      <p:sp>
        <p:nvSpPr>
          <p:cNvPr id="5" name="Text 3"/>
          <p:cNvSpPr/>
          <p:nvPr/>
        </p:nvSpPr>
        <p:spPr>
          <a:xfrm>
            <a:off x="1072555" y="1981758"/>
            <a:ext cx="4801925"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Our findings</a:t>
            </a:r>
            <a:endParaRPr lang="en-US" sz="1800" dirty="0"/>
          </a:p>
        </p:txBody>
      </p:sp>
      <p:sp>
        <p:nvSpPr>
          <p:cNvPr id="6" name="Text 4"/>
          <p:cNvSpPr/>
          <p:nvPr/>
        </p:nvSpPr>
        <p:spPr>
          <a:xfrm>
            <a:off x="1143675" y="2332224"/>
            <a:ext cx="4723185" cy="17399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Neural networks cut test MSE by about 35% vs linear regression (0.392 to 0.250–0.254)</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PCA gives a 4–7.5× smaller network at essentially the same accuracy</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About 0.1–0.2 ms per pose on a CPU, far below a 16 ms frame</a:t>
            </a:r>
            <a:endParaRPr lang="en-US" sz="1500" dirty="0"/>
          </a:p>
        </p:txBody>
      </p:sp>
      <p:sp>
        <p:nvSpPr>
          <p:cNvPr id="7" name="Shape 5"/>
          <p:cNvSpPr/>
          <p:nvPr/>
        </p:nvSpPr>
        <p:spPr>
          <a:xfrm>
            <a:off x="6200739" y="1750597"/>
            <a:ext cx="5175304" cy="2527291"/>
          </a:xfrm>
          <a:prstGeom prst="roundRect">
            <a:avLst>
              <a:gd name="adj" fmla="val 3894"/>
            </a:avLst>
          </a:prstGeom>
          <a:solidFill>
            <a:srgbClr val="FFFDF8"/>
          </a:solidFill>
          <a:ln w="6350">
            <a:solidFill>
              <a:srgbClr val="DDD8CC"/>
            </a:solidFill>
            <a:prstDash val="solid"/>
          </a:ln>
        </p:spPr>
      </p:sp>
      <p:sp>
        <p:nvSpPr>
          <p:cNvPr id="8" name="Text 6"/>
          <p:cNvSpPr/>
          <p:nvPr/>
        </p:nvSpPr>
        <p:spPr>
          <a:xfrm>
            <a:off x="6457336" y="1981758"/>
            <a:ext cx="4801972"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57A"/>
                </a:solidFill>
                <a:latin typeface="EB Garamond" pitchFamily="18" charset="0"/>
                <a:ea typeface="EB Garamond" pitchFamily="18" charset="-122"/>
                <a:cs typeface="EB Garamond" pitchFamily="18" charset="-120"/>
              </a:rPr>
              <a:t>Compared with the paper</a:t>
            </a:r>
            <a:endParaRPr lang="en-US" sz="1800" dirty="0"/>
          </a:p>
        </p:txBody>
      </p:sp>
      <p:sp>
        <p:nvSpPr>
          <p:cNvPr id="9" name="Text 7"/>
          <p:cNvSpPr/>
          <p:nvPr/>
        </p:nvSpPr>
        <p:spPr>
          <a:xfrm>
            <a:off x="6528456" y="2332224"/>
            <a:ext cx="4723232" cy="17399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Same trends: the MLP beats linear regression and PCA shrinks the model</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The paper found k = 128 best; on our generated data every k performs alike</a:t>
            </a:r>
            <a:endParaRPr lang="en-US" sz="1500" dirty="0"/>
          </a:p>
          <a:p>
            <a:pPr algn="l" marL="182880" indent="-182880">
              <a:lnSpc>
                <a:spcPts val="2250"/>
              </a:lnSpc>
              <a:buSzPct val="100000"/>
              <a:buChar char="•"/>
            </a:pPr>
            <a:r>
              <a:rPr lang="en-US" sz="1500" dirty="0">
                <a:solidFill>
                  <a:srgbClr val="3B4252"/>
                </a:solidFill>
                <a:latin typeface="IBM Plex Sans" pitchFamily="34" charset="0"/>
                <a:ea typeface="IBM Plex Sans" pitchFamily="34" charset="-122"/>
                <a:cs typeface="IBM Plex Sans" pitchFamily="34" charset="-120"/>
              </a:rPr>
              <a:t>Next: real simulated cloth and several random seeds</a:t>
            </a:r>
            <a:endParaRPr lang="en-US" sz="1500" dirty="0"/>
          </a:p>
        </p:txBody>
      </p:sp>
      <p:sp>
        <p:nvSpPr>
          <p:cNvPr id="10" name="Text 8"/>
          <p:cNvSpPr/>
          <p:nvPr/>
        </p:nvSpPr>
        <p:spPr>
          <a:xfrm>
            <a:off x="812782" y="4535060"/>
            <a:ext cx="10566436" cy="622237"/>
          </a:xfrm>
          <a:prstGeom prst="roundRect">
            <a:avLst>
              <a:gd name="adj" fmla="val 12246"/>
            </a:avLst>
          </a:prstGeom>
          <a:solidFill>
            <a:srgbClr val="14213D"/>
          </a:solidFill>
          <a:ln/>
        </p:spPr>
        <p:txBody>
          <a:bodyPr wrap="square" lIns="231682" tIns="155482" rIns="0" bIns="130046"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Code: private GitHub repo with README · Report: 2-page PDF · Questions?</a:t>
            </a:r>
            <a:endParaRPr lang="en-US" sz="1500" dirty="0"/>
          </a:p>
        </p:txBody>
      </p:sp>
      <p:sp>
        <p:nvSpPr>
          <p:cNvPr id="11" name="Text 9"/>
          <p:cNvSpPr/>
          <p:nvPr/>
        </p:nvSpPr>
        <p:spPr>
          <a:xfrm>
            <a:off x="812782" y="6238286"/>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Tejas Ponnappa (PES1UG24CS498) · Mukesh Sheregar (PES1UG24CS828)</a:t>
            </a:r>
            <a:endParaRPr lang="en-US" sz="1200" dirty="0"/>
          </a:p>
        </p:txBody>
      </p:sp>
      <p:sp>
        <p:nvSpPr>
          <p:cNvPr id="12" name="Text 10"/>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12 / 12</a:t>
            </a:r>
            <a:endParaRPr lang="en-US" sz="1200" dirty="0"/>
          </a:p>
        </p:txBody>
      </p:sp>
    </p:spTree>
  </p:cSld>
  <p:clrMapOvr>
    <a:masterClrMapping/>
  </p:clrMapOvr>
</p:sld>
</file>

<file path=ppt/theme/theme1.xml><?xml version="1.0" encoding="utf-8"?>
<a:theme xmlns:a="http://schemas.openxmlformats.org/drawingml/2006/main" name="Data-Driven Cloth: ML Mini-Project">
  <a:themeElements>
    <a:clrScheme name="Data-Driven Cloth: ML Mini-Project">
      <a:dk1>
        <a:srgbClr val="14213D"/>
      </a:dk1>
      <a:lt1>
        <a:srgbClr val="F6F4EE"/>
      </a:lt1>
      <a:dk2>
        <a:srgbClr val="4D5669"/>
      </a:dk2>
      <a:lt2>
        <a:srgbClr val="DFDFDC"/>
      </a:lt2>
      <a:accent1>
        <a:srgbClr val="17757A"/>
      </a:accent1>
      <a:accent2>
        <a:srgbClr val="E9B44C"/>
      </a:accent2>
      <a:accent3>
        <a:srgbClr val="3B4252"/>
      </a:accent3>
      <a:accent4>
        <a:srgbClr val="5B6472"/>
      </a:accent4>
      <a:accent5>
        <a:srgbClr val="D5DCE8"/>
      </a:accent5>
      <a:accent6>
        <a:srgbClr val="9AA0A6"/>
      </a:accent6>
      <a:hlink>
        <a:srgbClr val="0563C1"/>
      </a:hlink>
      <a:folHlink>
        <a:srgbClr val="954F72"/>
      </a:folHlink>
    </a:clrScheme>
    <a:fontScheme name="Data-Driven Cloth: ML Mini-Project">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Data-Driven Cloth: ML Mini-Project</dc:title>
  <dc:subject/>
  <dc:creator/>
  <cp:lastModifiedBy/>
  <cp:revision>1</cp:revision>
  <dcterms:created xsi:type="dcterms:W3CDTF">2026-10-04T13:20:17Z</dcterms:created>
  <dcterms:modified xsi:type="dcterms:W3CDTF">2026-10-04T13:20:17Z</dcterms:modified>
</cp:coreProperties>
</file>