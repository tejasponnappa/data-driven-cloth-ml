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Introduce yourselves and the project in one sentence: we reproduced a research paper (Xue and Wu, Stanford CS229, 2021) on predicting how clothing deforms from a character's pose with a neural network, using the public TailorNet garment data. About 8 to 10 minutes plus the live demo and Q&amp;A. Structure: the topic, the original paper, what we did, the problem statement, the dataset, the approach, the implementation, then demo, results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Explain the topic in plain words. Clothes on a moving character can be produced three ways. A physics simulation solves the cloth's equations step by step: very realistic but slow (the paper reports about 180 seconds for one coat). Skinning attaches the cloth to the skeleton: instant, but the cloth looks stiff. The data-driven idea is to run the slow simulation offline for many poses, then train a model that predicts the simulated cloth from the pose, so it runs in milliseconds. Our project implements and tests this third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The paper is a Stanford CS229 project report by Kangrui Xue and Jane Wu. They simulated 10,000 poses of a coat with Blender (skinning) and PhysBAM (cloth simulation). A fully connected network takes the 14 joint quaternions (56 numbers) and predicts PCA coefficients of the coat's vertex offsets; a fixed PCA layer turns them into the 6,510 offsets (2,170 vertices times 3). They compared predicting the offsets directly, 256, 128 and 64 PCA components, and a linear regression baseline. Their best model used 128 components with a test cost of 1.50e-4, about 2.6 times lower than the linear baseline at 3.83e-4. The network predicts in about 0.1 ms on a GPU, versus about 180 s for the procedural simulator on 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Give the four steps in one breath. We used the public TailorNet dataset of simulated garments (the paper's own data is not available), implemented PCA, the neural network and the linear baseline in PyTorch, ran the same ablation as the paper (predict the offsets directly, or 256, 128 or 64 PCA components), trained for 200 and for 1,000 epochs, and then evaluated on a held-out test set, produced plots and built a live demo. The next slides go through each part in the order of the written report: problem statement, dataset, approach, implementation, then results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This is a supervised regression problem. The input is the pose (72 SMPL numbers) plus the body shape (10) and garment style (4), 86 numbers in all; the paper used 14 joint quaternions, 56 numbers, for one coat. The output is, for every garment vertex, the offset from the rest garment, 3 numbers per vertex; for our short pants that is 2,710 vertices, 8,130 numbers. The goal is to learn this map with a neural network, so a prediction takes milliseconds, and to compare it with a linear regression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The paper's coat dataset (Blender skinning plus PhysBAM simulation) is not publicly available, so we use TailorNet (Patel et al., CVPR 2020), a public dataset of simulated garments on SMPL bodies. We use its male short-pants garment: 2,710 vertices, so 8,130 outputs. From the 40 body-shape and garment-style combinations in the download we sampled up to 100 poses each, 3,833 poses in all. The target for each pose is the simulated garment minus the rest garment of that shape and style, in cm (mean offset 1.98 cm per vertex, maximum 38.6 cm). As in the paper we remove implausible examples with a distance threshold: largest vertex offset above median plus 5 robust standard deviations, 19.8 cm, which removed 91 poses. The remaining 3,742 are split at random into 2,245 train, 748 validation and 749 test; PCA is fitted on training data only. Because poses from different bodies and styles are mixed, the input also includes shape (10) and style (4), so 86 numbers instead of the paper's 56. Likely question: are the removed poses really faulty? Answer: we used a distance threshold like the paper; we did not inspect them one by one. Another: do test poses come from unseen bodies? No, the split is random, so test poses share body shapes and styles with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Mukesh (this is the part his modules pca.py and model.py implement). Walk left to right. The MLP has two hidden ReLU layers (128 and 256 units) and outputs k PCA coefficients; its input is the 86 numbers (pose, shape, style). The PCA layer is a fixed linear layer built from the top-k principal components of the training offsets plus the mean, so the loss is the mean squared error on the reconstructed vertex offsets. PCA reduces the output from 8,130 numbers to k. Training uses Adam, learning rate 1e-4, batch size 32; we trained every model for 200 epochs and again for 1,000 epochs, the paper's setting; we keep the checkpoint with the best validation loss. The baseline is linear regression, which is a network with no hidden layers; we solve it in closed form by least squares. The ablation compares predicting the offsets directly with k = 256, 128 and 64. Likely question: why PCA? Answer: cloth offsets are strongly correlated across vertices, so a few components describe them; it makes the output layer and the model much smaller and acts as a regulariser.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Mukesh (model.py). Walk through the diagram left to right. Input: 86 numbers, which are the SMPL pose (72), the body shape (10) and the garment style (4). Hidden layer 1 has 128 neurons and hidden layer 2 has 256 neurons, both with ReLU. The last trained layer outputs k PCA coefficients, with k equal to 64, 128 or 256 depending on the model. Then comes the fixed PCA layer: it is not trained, its weights are the top-k principal components and the mean of the training offsets, and it turns the k coefficients into the 8,130 outputs, which are 2,710 garment vertices times 3 coordinates. The loss is the mean squared error on those 8,130 values. Parameter count for k = 64: 86 times 128 plus 128 is 11,136; 128 times 256 plus 256 is 33,024; 256 times 64 plus 64 is 16,448; total 60,608 trainable parameters. For k = 128 the total is 77,056 and for k = 256 it is 109,952. The direct model skips the PCA layer and its last layer maps 256 neurons straight to 8,130 outputs, which gives 2,133,570 parameters. Only five circles are drawn per layer; the dots mean there are more. Likely question: why is the PCA layer fixed? Answer: it is computed from the data first, so the network only has to learn the k coefficients.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presenters. Suggested split: Tejas covers data_tailornet.py, train.py, evaluate.py and demo.py; Mukesh covers pca.py and model.py. Mention that the repository is private and shared with the faculty, that the README has setup and run commands, and that run_all_tn.bat builds the dataset from the TailorNet download, trains all models and produces the plots and results table. Mukesh's files in one sentence each: pca.py fits PCA with an SVD on the training offsets and gives the top-k components; model.py defines the MLP whose last step is a fixed linear layer built from those components, plus the closed-form linear baseline. evaluate.py (Tejas) loads each trained model, computes test error, per-vertex error and timing, and draws the plots.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Before the review starts, run python demo.py --model tn_pca128 --compare tn_linreg --data data/tailornet.npz and keep the window open. The garment is drawn as a point cloud. Left to right: the real simulated garment, the PCA-128 prediction, the linear-regression prediction, and the error map of the PCA-128 prediction. Use the left and right arrow keys to step through test poses and show three or four of them; the mouse rotates the 3D view. The numbers on the next slide show the difference between the models. If the window fails to open, run the same command with --save results/demo.png --no_show --index 7 to make an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(evaluate.py produces these numbers and plots). Test set of 749 poses, seed 0. Predicting the training mean gives an MSE of 1.868; linear regression 0.907; the direct network 0.379 and the three PCA networks 0.403 to 0.410 after 1,000 epochs, which is 55 to 58 percent lower than linear regression. The best network is 2.4 times better than linear regression; the paper reports 2.6 times. After only 200 epochs the networks were at 0.475 (direct) and 0.66 (PCA), so training length matters, especially for the PCA networks: the gap between PCA and direct shrank from about 39 percent to 6 to 8 percent. The training curve shows why: the direct network has levelled off (best epoch 909) while the PCA networks are still slowly improving at epoch 1,000, so more training might close the rest of the gap (we did not test this). The paper found PCA about 6 percent better than direct; we did not reproduce that, and we say so. The three values of k differ by less than 2 percent, which is within single-run noise, so we do not claim a best k. Prediction takes about 0.015 to 0.064 ms per pose when predicting 256 poses at a time on a CPU; single-pose timings were 0.3 to 2.1 ms and noisy. Likely question: what is vertex error? Answer: the mean Euclidean distance, in cm, between the predicted and the true position of each garment vertex.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Mukesh (pca.py computes this). Left plot: cumulative explained variance of the offsets against the number of components; it rises steeply and passes 95 percent at around 60 components. Right plot: the reconstruction error that even a perfect predictor would still have, on the test set; it is about 0.075 at 64 components, 0.045 at 128 and 0.026 at 256, compared with a model error of about 0.4, so PCA is not what limits accuracy. The trade-off, from the results slide: with 64 components the network has 60.6 thousand trainable parameters against 2.13 million for direct prediction, 35 times fewer (19 times fewer with 256 components), at a test MSE about 8 percent higher (0.410 versus 0.379). Be upfront that the paper found PCA slightly better than direct, and we did not reproduce that. Likely question: why is PCA worse here? Answer: we are not sure; the PCA networks were still improving at epoch 1,000 while the direct network had levelled off, and the gap shrank from 39 percent at 200 epochs to 6 to 8 percent, so it may be a matter of training length, which we did not test. Another: which k is best? Answer: more components were slightly better, but the three results differ by less than 2 percent, which is within single-run noise. The values for the reconstruction error are read from the plot, so say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Summarise the three findings, then how they compare with the paper. Learned models clearly beat linear regression: test MSE falls from 0.907 to between 0.379 and 0.410, and the best network is 2.4 times better, close to the paper's 2.6 times. PCA gives a much smaller network, 19 to 35 times fewer trainable parameters, at a small cost in accuracy, 6 to 8 percent. The paper found PCA about 6 percent better than direct prediction and 128 components best; we did not reproduce either: direct was best, and the three values of k are within 2 percent of each other, which is within single-run noise. The PCA networks were still improving at epoch 1,000, so longer training might change this; we did not test it. Limitations to state yourselves: one garment, one random seed, 3.7 thousand poses against the paper's 10 thousand, and a random split, so test poses share body shapes and styles with training. Future work: several seeds, longer training, and a split by body shape. Then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82" y="1102274"/>
            <a:ext cx="10566436" cy="391147"/>
          </a:xfrm>
          <a:prstGeom prst="rect">
            <a:avLst/>
          </a:prstGeom>
          <a:noFill/>
          <a:ln/>
        </p:spPr>
        <p:txBody>
          <a:bodyPr wrap="square" lIns="0" tIns="0" rIns="0" bIns="0" rtlCol="0" anchor="t"/>
          <a:lstStyle>
            <a:lvl1pPr algn="l" indent="0" marL="0">
              <a:lnSpc>
                <a:spcPct val="115000"/>
              </a:lnSpc>
              <a:buNone/>
              <a:defRPr lang="en-US" sz="2800" dirty="0">
                <a:solidFill>
                  <a:srgbClr val="14213D"/>
                </a:solidFill>
                <a:latin typeface="EB Garamond" pitchFamily="34" charset="0"/>
                <a:ea typeface="EB Garamond" pitchFamily="34" charset="-122"/>
                <a:cs typeface="EB Garamond"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782" y="1798221"/>
            <a:ext cx="10566418" cy="424697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82" y="1102274"/>
            <a:ext cx="10566436" cy="391147"/>
          </a:xfrm>
          <a:prstGeom prst="rect">
            <a:avLst/>
          </a:prstGeom>
          <a:noFill/>
          <a:ln/>
        </p:spPr>
        <p:txBody>
          <a:bodyPr wrap="square" lIns="0" tIns="0" rIns="0" bIns="0" rtlCol="0" anchor="t"/>
          <a:lstStyle>
            <a:lvl1pPr algn="l" indent="0" marL="0">
              <a:lnSpc>
                <a:spcPct val="115000"/>
              </a:lnSpc>
              <a:buNone/>
              <a:defRPr lang="en-US" sz="2800" dirty="0">
                <a:solidFill>
                  <a:srgbClr val="14213D"/>
                </a:solidFill>
                <a:latin typeface="EB Garamond" pitchFamily="34" charset="0"/>
                <a:ea typeface="EB Garamond" pitchFamily="34" charset="-122"/>
                <a:cs typeface="EB Garamond"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782" y="1798221"/>
            <a:ext cx="10566418" cy="424697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782" y="812782"/>
            <a:ext cx="1088342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9B44C"/>
                </a:solidFill>
                <a:latin typeface="IBM Plex Sans" pitchFamily="34" charset="0"/>
                <a:ea typeface="IBM Plex Sans" pitchFamily="34" charset="-122"/>
                <a:cs typeface="IBM Plex Sans" pitchFamily="34" charset="-120"/>
              </a:rPr>
              <a:t>UE24CS352A MACHINE LEARNING · MINI-PROJECT 2026</a:t>
            </a:r>
            <a:endParaRPr lang="en-US" sz="1200" dirty="0"/>
          </a:p>
        </p:txBody>
      </p:sp>
      <p:sp>
        <p:nvSpPr>
          <p:cNvPr id="3" name="Text 1"/>
          <p:cNvSpPr/>
          <p:nvPr>
            <p:ph type="title"/>
          </p:nvPr>
        </p:nvSpPr>
        <p:spPr>
          <a:xfrm>
            <a:off x="812782" y="2380032"/>
            <a:ext cx="10883429" cy="1366477"/>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F6F4EE"/>
                </a:solidFill>
                <a:latin typeface="EB Garamond" pitchFamily="18" charset="0"/>
                <a:ea typeface="EB Garamond" pitchFamily="18" charset="-122"/>
                <a:cs typeface="EB Garamond" pitchFamily="18" charset="-120"/>
              </a:rPr>
              <a:t>Data-Driven Cloth for Interactive Applications</a:t>
            </a:r>
            <a:endParaRPr lang="en-US" sz="4800" dirty="0"/>
          </a:p>
        </p:txBody>
      </p:sp>
      <p:sp>
        <p:nvSpPr>
          <p:cNvPr id="4" name="Text 2"/>
          <p:cNvSpPr/>
          <p:nvPr/>
        </p:nvSpPr>
        <p:spPr>
          <a:xfrm>
            <a:off x="812782" y="3924282"/>
            <a:ext cx="10883429" cy="322560"/>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D5DCE8"/>
                </a:solidFill>
                <a:latin typeface="IBM Plex Sans" pitchFamily="34" charset="0"/>
                <a:ea typeface="IBM Plex Sans" pitchFamily="34" charset="-122"/>
                <a:cs typeface="IBM Plex Sans" pitchFamily="34" charset="-120"/>
              </a:rPr>
              <a:t>Predicting cloth deformation from pose with PCA and a neural network</a:t>
            </a:r>
            <a:endParaRPr lang="en-US" sz="1800" dirty="0"/>
          </a:p>
        </p:txBody>
      </p:sp>
      <p:sp>
        <p:nvSpPr>
          <p:cNvPr id="5" name="Text 3"/>
          <p:cNvSpPr/>
          <p:nvPr/>
        </p:nvSpPr>
        <p:spPr>
          <a:xfrm>
            <a:off x="812782" y="5575327"/>
            <a:ext cx="10883429" cy="292073"/>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9B44C"/>
                </a:solidFill>
                <a:latin typeface="IBM Plex Sans" pitchFamily="34" charset="0"/>
                <a:ea typeface="IBM Plex Sans" pitchFamily="34" charset="-122"/>
                <a:cs typeface="IBM Plex Sans" pitchFamily="34" charset="-120"/>
              </a:rPr>
              <a:t>Tejas Ponnappa · PES1UG24CS498  |  Mukesh Sheregar · PES1UG24CS828</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57A"/>
                </a:solidFill>
                <a:latin typeface="IBM Plex Sans" pitchFamily="34" charset="0"/>
                <a:ea typeface="IBM Plex Sans" pitchFamily="34" charset="-122"/>
                <a:cs typeface="IBM Plex Sans" pitchFamily="34" charset="-120"/>
              </a:rPr>
              <a:t>TOPIC</a:t>
            </a:r>
            <a:endParaRPr lang="en-US" sz="1200" dirty="0"/>
          </a:p>
        </p:txBody>
      </p:sp>
      <p:sp>
        <p:nvSpPr>
          <p:cNvPr id="3" name="Text 1"/>
          <p:cNvSpPr/>
          <p:nvPr>
            <p:ph type="title"/>
          </p:nvPr>
        </p:nvSpPr>
        <p:spPr>
          <a:xfrm>
            <a:off x="812782" y="1102275"/>
            <a:ext cx="10883429" cy="416547"/>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4213D"/>
                </a:solidFill>
                <a:latin typeface="EB Garamond" pitchFamily="18" charset="0"/>
                <a:ea typeface="EB Garamond" pitchFamily="18" charset="-122"/>
                <a:cs typeface="EB Garamond" pitchFamily="18" charset="-120"/>
              </a:rPr>
              <a:t>Making clothing move realistically, in real time</a:t>
            </a:r>
            <a:endParaRPr lang="en-US" sz="2800" dirty="0"/>
          </a:p>
        </p:txBody>
      </p:sp>
      <p:sp>
        <p:nvSpPr>
          <p:cNvPr id="4" name="Text 2"/>
          <p:cNvSpPr/>
          <p:nvPr/>
        </p:nvSpPr>
        <p:spPr>
          <a:xfrm>
            <a:off x="812782" y="1747422"/>
            <a:ext cx="10883429" cy="292073"/>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Games, VR and online try-on need clothing that reacts to the body instantly. There are three ways to get there.</a:t>
            </a:r>
            <a:endParaRPr lang="en-US" sz="1500" dirty="0"/>
          </a:p>
        </p:txBody>
      </p:sp>
      <p:sp>
        <p:nvSpPr>
          <p:cNvPr id="5" name="Shape 3"/>
          <p:cNvSpPr/>
          <p:nvPr/>
        </p:nvSpPr>
        <p:spPr>
          <a:xfrm>
            <a:off x="815957" y="2271270"/>
            <a:ext cx="3384180" cy="1652136"/>
          </a:xfrm>
          <a:prstGeom prst="roundRect">
            <a:avLst>
              <a:gd name="adj" fmla="val 5957"/>
            </a:avLst>
          </a:prstGeom>
          <a:solidFill>
            <a:srgbClr val="FFFDF8"/>
          </a:solidFill>
          <a:ln w="6350">
            <a:solidFill>
              <a:srgbClr val="DDD8CC"/>
            </a:solidFill>
            <a:prstDash val="solid"/>
          </a:ln>
        </p:spPr>
      </p:sp>
      <p:sp>
        <p:nvSpPr>
          <p:cNvPr id="6" name="Text 4"/>
          <p:cNvSpPr/>
          <p:nvPr/>
        </p:nvSpPr>
        <p:spPr>
          <a:xfrm>
            <a:off x="1072555" y="2527868"/>
            <a:ext cx="2957114"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Physics simulation</a:t>
            </a:r>
            <a:endParaRPr lang="en-US" sz="1800" dirty="0"/>
          </a:p>
        </p:txBody>
      </p:sp>
      <p:sp>
        <p:nvSpPr>
          <p:cNvPr id="7" name="Text 5"/>
          <p:cNvSpPr/>
          <p:nvPr/>
        </p:nvSpPr>
        <p:spPr>
          <a:xfrm>
            <a:off x="1072555" y="2878336"/>
            <a:ext cx="2957114" cy="55874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Very realistic, but slow: about 180 s for one coat in the paper.</a:t>
            </a:r>
            <a:endParaRPr lang="en-US" sz="1500" dirty="0"/>
          </a:p>
        </p:txBody>
      </p:sp>
      <p:sp>
        <p:nvSpPr>
          <p:cNvPr id="8" name="Shape 6"/>
          <p:cNvSpPr/>
          <p:nvPr/>
        </p:nvSpPr>
        <p:spPr>
          <a:xfrm>
            <a:off x="4409660" y="2271270"/>
            <a:ext cx="3384225" cy="1652136"/>
          </a:xfrm>
          <a:prstGeom prst="roundRect">
            <a:avLst>
              <a:gd name="adj" fmla="val 5957"/>
            </a:avLst>
          </a:prstGeom>
          <a:solidFill>
            <a:srgbClr val="FFFDF8"/>
          </a:solidFill>
          <a:ln w="6350">
            <a:solidFill>
              <a:srgbClr val="DDD8CC"/>
            </a:solidFill>
            <a:prstDash val="solid"/>
          </a:ln>
        </p:spPr>
      </p:sp>
      <p:sp>
        <p:nvSpPr>
          <p:cNvPr id="9" name="Text 7"/>
          <p:cNvSpPr/>
          <p:nvPr/>
        </p:nvSpPr>
        <p:spPr>
          <a:xfrm>
            <a:off x="4666258" y="2527868"/>
            <a:ext cx="2957161"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Skinning</a:t>
            </a:r>
            <a:endParaRPr lang="en-US" sz="1800" dirty="0"/>
          </a:p>
        </p:txBody>
      </p:sp>
      <p:sp>
        <p:nvSpPr>
          <p:cNvPr id="10" name="Text 8"/>
          <p:cNvSpPr/>
          <p:nvPr/>
        </p:nvSpPr>
        <p:spPr>
          <a:xfrm>
            <a:off x="4666258" y="2878336"/>
            <a:ext cx="2957161" cy="55874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Instant, but the cloth just follows the skeleton and looks stiff.</a:t>
            </a:r>
            <a:endParaRPr lang="en-US" sz="1500" dirty="0"/>
          </a:p>
        </p:txBody>
      </p:sp>
      <p:sp>
        <p:nvSpPr>
          <p:cNvPr id="11" name="Shape 9"/>
          <p:cNvSpPr/>
          <p:nvPr/>
        </p:nvSpPr>
        <p:spPr>
          <a:xfrm>
            <a:off x="8000233" y="2268095"/>
            <a:ext cx="3378984" cy="1658486"/>
          </a:xfrm>
          <a:prstGeom prst="roundRect">
            <a:avLst>
              <a:gd name="adj" fmla="val 6126"/>
            </a:avLst>
          </a:prstGeom>
          <a:solidFill>
            <a:srgbClr val="14213D"/>
          </a:solidFill>
          <a:ln/>
        </p:spPr>
      </p:sp>
      <p:sp>
        <p:nvSpPr>
          <p:cNvPr id="12" name="Text 10"/>
          <p:cNvSpPr/>
          <p:nvPr/>
        </p:nvSpPr>
        <p:spPr>
          <a:xfrm>
            <a:off x="8254233" y="2522095"/>
            <a:ext cx="2957114"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E9B44C"/>
                </a:solidFill>
                <a:latin typeface="EB Garamond" pitchFamily="18" charset="0"/>
                <a:ea typeface="EB Garamond" pitchFamily="18" charset="-122"/>
                <a:cs typeface="EB Garamond" pitchFamily="18" charset="-120"/>
              </a:rPr>
              <a:t>Data-driven</a:t>
            </a:r>
            <a:endParaRPr lang="en-US" sz="1800" dirty="0"/>
          </a:p>
        </p:txBody>
      </p:sp>
      <p:sp>
        <p:nvSpPr>
          <p:cNvPr id="13" name="Text 11"/>
          <p:cNvSpPr/>
          <p:nvPr/>
        </p:nvSpPr>
        <p:spPr>
          <a:xfrm>
            <a:off x="8254233" y="2872563"/>
            <a:ext cx="2957114" cy="82541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4EE"/>
                </a:solidFill>
                <a:latin typeface="IBM Plex Sans" pitchFamily="34" charset="0"/>
                <a:ea typeface="IBM Plex Sans" pitchFamily="34" charset="-122"/>
                <a:cs typeface="IBM Plex Sans" pitchFamily="34" charset="-120"/>
              </a:rPr>
              <a:t>Learn the cloth's behaviour from simulated examples, then predict it in milliseconds.</a:t>
            </a:r>
            <a:endParaRPr lang="en-US" sz="1500" dirty="0"/>
          </a:p>
        </p:txBody>
      </p:sp>
      <p:sp>
        <p:nvSpPr>
          <p:cNvPr id="14" name="Text 12"/>
          <p:cNvSpPr/>
          <p:nvPr/>
        </p:nvSpPr>
        <p:spPr>
          <a:xfrm>
            <a:off x="812782" y="6238289"/>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This project is about the third approach</a:t>
            </a:r>
            <a:endParaRPr lang="en-US" sz="1200" dirty="0"/>
          </a:p>
        </p:txBody>
      </p:sp>
      <p:sp>
        <p:nvSpPr>
          <p:cNvPr id="15" name="Text 13"/>
          <p:cNvSpPr/>
          <p:nvPr/>
        </p:nvSpPr>
        <p:spPr>
          <a:xfrm>
            <a:off x="10058418" y="6238289"/>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2 / 13</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57A"/>
                </a:solidFill>
                <a:latin typeface="IBM Plex Sans" pitchFamily="34" charset="0"/>
                <a:ea typeface="IBM Plex Sans" pitchFamily="34" charset="-122"/>
                <a:cs typeface="IBM Plex Sans" pitchFamily="34" charset="-120"/>
              </a:rPr>
              <a:t>ORIGINAL PAPER</a:t>
            </a:r>
            <a:endParaRPr lang="en-US" sz="1200" dirty="0"/>
          </a:p>
        </p:txBody>
      </p:sp>
      <p:sp>
        <p:nvSpPr>
          <p:cNvPr id="3" name="Text 1"/>
          <p:cNvSpPr/>
          <p:nvPr>
            <p:ph type="title"/>
          </p:nvPr>
        </p:nvSpPr>
        <p:spPr>
          <a:xfrm>
            <a:off x="812782" y="1102275"/>
            <a:ext cx="10883429" cy="416547"/>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4213D"/>
                </a:solidFill>
                <a:latin typeface="EB Garamond" pitchFamily="18" charset="0"/>
                <a:ea typeface="EB Garamond" pitchFamily="18" charset="-122"/>
                <a:cs typeface="EB Garamond" pitchFamily="18" charset="-120"/>
              </a:rPr>
              <a:t>Xue &amp; Wu (Stanford CS229, 2021)</a:t>
            </a:r>
            <a:endParaRPr lang="en-US" sz="2800" dirty="0"/>
          </a:p>
        </p:txBody>
      </p:sp>
      <p:sp>
        <p:nvSpPr>
          <p:cNvPr id="4" name="Shape 2"/>
          <p:cNvSpPr/>
          <p:nvPr/>
        </p:nvSpPr>
        <p:spPr>
          <a:xfrm>
            <a:off x="815957" y="1750597"/>
            <a:ext cx="5175259" cy="3583024"/>
          </a:xfrm>
          <a:prstGeom prst="roundRect">
            <a:avLst>
              <a:gd name="adj" fmla="val 2747"/>
            </a:avLst>
          </a:prstGeom>
          <a:solidFill>
            <a:srgbClr val="FFFDF8"/>
          </a:solidFill>
          <a:ln w="6350">
            <a:solidFill>
              <a:srgbClr val="DDD8CC"/>
            </a:solidFill>
            <a:prstDash val="solid"/>
          </a:ln>
        </p:spPr>
      </p:sp>
      <p:sp>
        <p:nvSpPr>
          <p:cNvPr id="5" name="Text 3"/>
          <p:cNvSpPr/>
          <p:nvPr/>
        </p:nvSpPr>
        <p:spPr>
          <a:xfrm>
            <a:off x="1072555" y="1981758"/>
            <a:ext cx="4801925"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What they did</a:t>
            </a:r>
            <a:endParaRPr lang="en-US" sz="1800" dirty="0"/>
          </a:p>
        </p:txBody>
      </p:sp>
      <p:sp>
        <p:nvSpPr>
          <p:cNvPr id="6" name="Text 4"/>
          <p:cNvSpPr/>
          <p:nvPr/>
        </p:nvSpPr>
        <p:spPr>
          <a:xfrm>
            <a:off x="1143675" y="2332227"/>
            <a:ext cx="4723185" cy="2311400"/>
          </a:xfrm>
          <a:prstGeom prst="rect">
            <a:avLst/>
          </a:prstGeom>
          <a:noFill/>
          <a:ln/>
        </p:spPr>
        <p:txBody>
          <a:bodyPr wrap="square" lIns="0" tIns="0" rIns="0" bIns="0" rtlCol="0" anchor="t">
            <a:normAutofit/>
          </a:bodyPr>
          <a:lstStyle/>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Simulated 10,000 coat poses with Blender + PhysBAM</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Pose (56 numbers) → MLP → PCA coefficients → 6,510 vertex offsets</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Compared direct offsets, 256 / 128 / 64 PCs and linear regression</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Prediction takes about 0.1 ms on a GPU, versus about 180 s for the simulator</a:t>
            </a:r>
            <a:endParaRPr lang="en-US" sz="1500" dirty="0"/>
          </a:p>
        </p:txBody>
      </p:sp>
      <p:sp>
        <p:nvSpPr>
          <p:cNvPr id="7" name="Shape 5"/>
          <p:cNvSpPr/>
          <p:nvPr/>
        </p:nvSpPr>
        <p:spPr>
          <a:xfrm>
            <a:off x="6200739" y="1750597"/>
            <a:ext cx="5175304" cy="3583024"/>
          </a:xfrm>
          <a:prstGeom prst="roundRect">
            <a:avLst>
              <a:gd name="adj" fmla="val 2747"/>
            </a:avLst>
          </a:prstGeom>
          <a:solidFill>
            <a:srgbClr val="FFFDF8"/>
          </a:solidFill>
          <a:ln w="6350">
            <a:solidFill>
              <a:srgbClr val="DDD8CC"/>
            </a:solidFill>
            <a:prstDash val="solid"/>
          </a:ln>
        </p:spPr>
      </p:sp>
      <p:sp>
        <p:nvSpPr>
          <p:cNvPr id="8" name="Text 6"/>
          <p:cNvSpPr/>
          <p:nvPr/>
        </p:nvSpPr>
        <p:spPr>
          <a:xfrm>
            <a:off x="6457336" y="1981758"/>
            <a:ext cx="4801972"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What they found</a:t>
            </a:r>
            <a:endParaRPr lang="en-US" sz="1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68882" y="2343772"/>
          <a:ext cx="4650563" cy="2469194"/>
        </p:xfrm>
        <a:graphic>
          <a:graphicData uri="http://schemas.openxmlformats.org/drawingml/2006/table">
            <a:tbl>
              <a:tblPr/>
              <a:tblGrid>
                <a:gridCol w="2883349"/>
                <a:gridCol w="1767214"/>
              </a:tblGrid>
              <a:tr h="411532">
                <a:tc>
                  <a:txBody>
                    <a:bodyPr/>
                    <a:lstStyle/>
                    <a:p>
                      <a:pPr indent="0" marL="0">
                        <a:lnSpc>
                          <a:spcPts val="2100"/>
                        </a:lnSpc>
                        <a:buNone/>
                      </a:pPr>
                      <a:r>
                        <a:rPr lang="en-US" sz="1500" b="1" dirty="0">
                          <a:solidFill>
                            <a:srgbClr val="F6F4EE"/>
                          </a:solidFill>
                          <a:latin typeface="IBM Plex Sans" pitchFamily="34" charset="0"/>
                          <a:ea typeface="IBM Plex Sans" pitchFamily="34" charset="-122"/>
                          <a:cs typeface="IBM Plex Sans" pitchFamily="34" charset="-120"/>
                        </a:rPr>
                        <a:t>Model</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algn="r" indent="0" marL="0">
                        <a:lnSpc>
                          <a:spcPts val="2100"/>
                        </a:lnSpc>
                        <a:buNone/>
                      </a:pPr>
                      <a:r>
                        <a:rPr lang="en-US" sz="1500" b="1" dirty="0">
                          <a:solidFill>
                            <a:srgbClr val="F6F4EE"/>
                          </a:solidFill>
                          <a:latin typeface="IBM Plex Sans" pitchFamily="34" charset="0"/>
                          <a:ea typeface="IBM Plex Sans" pitchFamily="34" charset="-122"/>
                          <a:cs typeface="IBM Plex Sans" pitchFamily="34" charset="-120"/>
                        </a:rPr>
                        <a:t>Test cost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r>
              <a:tr h="411532">
                <a:tc>
                  <a:txBody>
                    <a:bodyPr/>
                    <a:lstStyle/>
                    <a:p>
                      <a:pP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Linear regression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algn="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3.83e-4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411532">
                <a:tc>
                  <a:txBody>
                    <a:bodyPr/>
                    <a:lstStyle/>
                    <a:p>
                      <a:pP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MLP, direct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algn="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1.59e-4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411532">
                <a:tc>
                  <a:txBody>
                    <a:bodyPr/>
                    <a:lstStyle/>
                    <a:p>
                      <a:pP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MLP + PCA 256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algn="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1.53e-4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411532">
                <a:tc>
                  <a:txBody>
                    <a:bodyPr/>
                    <a:lstStyle/>
                    <a:p>
                      <a:pP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MLP + PCA 128</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algn="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1.50e-4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r>
              <a:tr h="411532">
                <a:tc>
                  <a:txBody>
                    <a:bodyPr/>
                    <a:lstStyle/>
                    <a:p>
                      <a:pP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MLP + PCA 64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algn="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1.57e-4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bl>
          </a:graphicData>
        </a:graphic>
      </p:graphicFrame>
      <p:sp>
        <p:nvSpPr>
          <p:cNvPr id="10" name="Text 7"/>
          <p:cNvSpPr/>
          <p:nvPr/>
        </p:nvSpPr>
        <p:spPr>
          <a:xfrm>
            <a:off x="6457336" y="4889139"/>
            <a:ext cx="480197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Lower is better. From Table 1 of the paper.</a:t>
            </a:r>
            <a:endParaRPr lang="en-US" sz="1200" dirty="0"/>
          </a:p>
        </p:txBody>
      </p:sp>
      <p:sp>
        <p:nvSpPr>
          <p:cNvPr id="11" name="Text 8"/>
          <p:cNvSpPr/>
          <p:nvPr/>
        </p:nvSpPr>
        <p:spPr>
          <a:xfrm>
            <a:off x="812782" y="6238287"/>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Best result: 128 PCA components, about 2.6× lower error than linear regression</a:t>
            </a:r>
            <a:endParaRPr lang="en-US" sz="1200" dirty="0"/>
          </a:p>
        </p:txBody>
      </p:sp>
      <p:sp>
        <p:nvSpPr>
          <p:cNvPr id="12" name="Text 9"/>
          <p:cNvSpPr/>
          <p:nvPr/>
        </p:nvSpPr>
        <p:spPr>
          <a:xfrm>
            <a:off x="10058418" y="6238287"/>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3 / 13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57A"/>
                </a:solidFill>
                <a:latin typeface="IBM Plex Sans" pitchFamily="34" charset="0"/>
                <a:ea typeface="IBM Plex Sans" pitchFamily="34" charset="-122"/>
                <a:cs typeface="IBM Plex Sans" pitchFamily="34" charset="-120"/>
              </a:rPr>
              <a:t>WHAT WE DID</a:t>
            </a:r>
            <a:endParaRPr lang="en-US" sz="1200" dirty="0"/>
          </a:p>
        </p:txBody>
      </p:sp>
      <p:sp>
        <p:nvSpPr>
          <p:cNvPr id="3" name="Text 1"/>
          <p:cNvSpPr/>
          <p:nvPr>
            <p:ph type="title"/>
          </p:nvPr>
        </p:nvSpPr>
        <p:spPr>
          <a:xfrm>
            <a:off x="812782" y="1102274"/>
            <a:ext cx="10883429" cy="416547"/>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4213D"/>
                </a:solidFill>
                <a:latin typeface="EB Garamond" pitchFamily="18" charset="0"/>
                <a:ea typeface="EB Garamond" pitchFamily="18" charset="-122"/>
                <a:cs typeface="EB Garamond" pitchFamily="18" charset="-120"/>
              </a:rPr>
              <a:t>We rebuilt the paper's pipeline end to end</a:t>
            </a:r>
            <a:endParaRPr lang="en-US" sz="2800" dirty="0"/>
          </a:p>
        </p:txBody>
      </p:sp>
      <p:sp>
        <p:nvSpPr>
          <p:cNvPr id="4" name="Shape 2"/>
          <p:cNvSpPr/>
          <p:nvPr/>
        </p:nvSpPr>
        <p:spPr>
          <a:xfrm>
            <a:off x="815957" y="1750597"/>
            <a:ext cx="2482868" cy="2412828"/>
          </a:xfrm>
          <a:prstGeom prst="roundRect">
            <a:avLst>
              <a:gd name="adj" fmla="val 4079"/>
            </a:avLst>
          </a:prstGeom>
          <a:solidFill>
            <a:srgbClr val="FFFDF8"/>
          </a:solidFill>
          <a:ln w="6350">
            <a:solidFill>
              <a:srgbClr val="DDD8CC"/>
            </a:solidFill>
            <a:prstDash val="solid"/>
          </a:ln>
        </p:spPr>
      </p:sp>
      <p:sp>
        <p:nvSpPr>
          <p:cNvPr id="5" name="Text 3"/>
          <p:cNvSpPr/>
          <p:nvPr/>
        </p:nvSpPr>
        <p:spPr>
          <a:xfrm>
            <a:off x="1047119" y="1981758"/>
            <a:ext cx="2081161"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1. Dataset</a:t>
            </a:r>
            <a:endParaRPr lang="en-US" sz="1800" dirty="0"/>
          </a:p>
        </p:txBody>
      </p:sp>
      <p:sp>
        <p:nvSpPr>
          <p:cNvPr id="6" name="Text 4"/>
          <p:cNvSpPr/>
          <p:nvPr/>
        </p:nvSpPr>
        <p:spPr>
          <a:xfrm>
            <a:off x="1047119" y="2332227"/>
            <a:ext cx="2081161" cy="1625438"/>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Used the public TailorNet garment simulations (short pants) in place of the paper's private coat data.</a:t>
            </a:r>
            <a:endParaRPr lang="en-US" sz="1500" dirty="0"/>
          </a:p>
        </p:txBody>
      </p:sp>
      <p:sp>
        <p:nvSpPr>
          <p:cNvPr id="7" name="Shape 5"/>
          <p:cNvSpPr/>
          <p:nvPr/>
        </p:nvSpPr>
        <p:spPr>
          <a:xfrm>
            <a:off x="3508348" y="1750597"/>
            <a:ext cx="2482913" cy="2412828"/>
          </a:xfrm>
          <a:prstGeom prst="roundRect">
            <a:avLst>
              <a:gd name="adj" fmla="val 4079"/>
            </a:avLst>
          </a:prstGeom>
          <a:solidFill>
            <a:srgbClr val="FFFDF8"/>
          </a:solidFill>
          <a:ln w="6350">
            <a:solidFill>
              <a:srgbClr val="DDD8CC"/>
            </a:solidFill>
            <a:prstDash val="solid"/>
          </a:ln>
        </p:spPr>
      </p:sp>
      <p:sp>
        <p:nvSpPr>
          <p:cNvPr id="8" name="Text 6"/>
          <p:cNvSpPr/>
          <p:nvPr/>
        </p:nvSpPr>
        <p:spPr>
          <a:xfrm>
            <a:off x="3739509" y="1981758"/>
            <a:ext cx="2081208"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2. Pipeline</a:t>
            </a:r>
            <a:endParaRPr lang="en-US" sz="1800" dirty="0"/>
          </a:p>
        </p:txBody>
      </p:sp>
      <p:sp>
        <p:nvSpPr>
          <p:cNvPr id="9" name="Text 7"/>
          <p:cNvSpPr/>
          <p:nvPr/>
        </p:nvSpPr>
        <p:spPr>
          <a:xfrm>
            <a:off x="3739509" y="2332227"/>
            <a:ext cx="2081208" cy="82541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Implemented PCA, the MLP and a linear baseline in PyTorch.</a:t>
            </a:r>
            <a:endParaRPr lang="en-US" sz="1500" dirty="0"/>
          </a:p>
        </p:txBody>
      </p:sp>
      <p:sp>
        <p:nvSpPr>
          <p:cNvPr id="10" name="Shape 8"/>
          <p:cNvSpPr/>
          <p:nvPr/>
        </p:nvSpPr>
        <p:spPr>
          <a:xfrm>
            <a:off x="6200784" y="1750597"/>
            <a:ext cx="2482868" cy="2412828"/>
          </a:xfrm>
          <a:prstGeom prst="roundRect">
            <a:avLst>
              <a:gd name="adj" fmla="val 4079"/>
            </a:avLst>
          </a:prstGeom>
          <a:solidFill>
            <a:srgbClr val="FFFDF8"/>
          </a:solidFill>
          <a:ln w="6350">
            <a:solidFill>
              <a:srgbClr val="DDD8CC"/>
            </a:solidFill>
            <a:prstDash val="solid"/>
          </a:ln>
        </p:spPr>
      </p:sp>
      <p:sp>
        <p:nvSpPr>
          <p:cNvPr id="11" name="Text 9"/>
          <p:cNvSpPr/>
          <p:nvPr/>
        </p:nvSpPr>
        <p:spPr>
          <a:xfrm>
            <a:off x="6431945" y="1981758"/>
            <a:ext cx="2081161"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3. Ablation</a:t>
            </a:r>
            <a:endParaRPr lang="en-US" sz="1800" dirty="0"/>
          </a:p>
        </p:txBody>
      </p:sp>
      <p:sp>
        <p:nvSpPr>
          <p:cNvPr id="12" name="Text 10"/>
          <p:cNvSpPr/>
          <p:nvPr/>
        </p:nvSpPr>
        <p:spPr>
          <a:xfrm>
            <a:off x="6431945" y="2332227"/>
            <a:ext cx="2081161" cy="1092092"/>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Trained direct offsets and 256 / 128 / 64 PCs, for 200 and for 1,000 epochs.</a:t>
            </a:r>
            <a:endParaRPr lang="en-US" sz="1500" dirty="0"/>
          </a:p>
        </p:txBody>
      </p:sp>
      <p:sp>
        <p:nvSpPr>
          <p:cNvPr id="13" name="Shape 11"/>
          <p:cNvSpPr/>
          <p:nvPr/>
        </p:nvSpPr>
        <p:spPr>
          <a:xfrm>
            <a:off x="8893175" y="1750597"/>
            <a:ext cx="2482868" cy="2412828"/>
          </a:xfrm>
          <a:prstGeom prst="roundRect">
            <a:avLst>
              <a:gd name="adj" fmla="val 4079"/>
            </a:avLst>
          </a:prstGeom>
          <a:solidFill>
            <a:srgbClr val="FFFDF8"/>
          </a:solidFill>
          <a:ln w="6350">
            <a:solidFill>
              <a:srgbClr val="DDD8CC"/>
            </a:solidFill>
            <a:prstDash val="solid"/>
          </a:ln>
        </p:spPr>
      </p:sp>
      <p:sp>
        <p:nvSpPr>
          <p:cNvPr id="14" name="Text 12"/>
          <p:cNvSpPr/>
          <p:nvPr/>
        </p:nvSpPr>
        <p:spPr>
          <a:xfrm>
            <a:off x="9124336" y="1981758"/>
            <a:ext cx="2081161"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4. Evaluation</a:t>
            </a:r>
            <a:endParaRPr lang="en-US" sz="1800" dirty="0"/>
          </a:p>
        </p:txBody>
      </p:sp>
      <p:sp>
        <p:nvSpPr>
          <p:cNvPr id="15" name="Text 13"/>
          <p:cNvSpPr/>
          <p:nvPr/>
        </p:nvSpPr>
        <p:spPr>
          <a:xfrm>
            <a:off x="9124336" y="2332227"/>
            <a:ext cx="2081161" cy="82541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Measured test error, made plots and built a live demo.</a:t>
            </a:r>
            <a:endParaRPr lang="en-US" sz="1500" dirty="0"/>
          </a:p>
        </p:txBody>
      </p:sp>
      <p:sp>
        <p:nvSpPr>
          <p:cNvPr id="16" name="Text 14"/>
          <p:cNvSpPr/>
          <p:nvPr/>
        </p:nvSpPr>
        <p:spPr>
          <a:xfrm>
            <a:off x="812782" y="6238289"/>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Same pipeline as the paper: pose → MLP → PCA → cloth offsets</a:t>
            </a:r>
            <a:endParaRPr lang="en-US" sz="1200" dirty="0"/>
          </a:p>
        </p:txBody>
      </p:sp>
      <p:sp>
        <p:nvSpPr>
          <p:cNvPr id="17" name="Text 15"/>
          <p:cNvSpPr/>
          <p:nvPr/>
        </p:nvSpPr>
        <p:spPr>
          <a:xfrm>
            <a:off x="10058418" y="6238289"/>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4 / 13</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57A"/>
                </a:solidFill>
                <a:latin typeface="IBM Plex Sans" pitchFamily="34" charset="0"/>
                <a:ea typeface="IBM Plex Sans" pitchFamily="34" charset="-122"/>
                <a:cs typeface="IBM Plex Sans" pitchFamily="34" charset="-120"/>
              </a:rPr>
              <a:t>PROBLEM STATEMENT</a:t>
            </a:r>
            <a:endParaRPr lang="en-US" sz="1200" dirty="0"/>
          </a:p>
        </p:txBody>
      </p:sp>
      <p:sp>
        <p:nvSpPr>
          <p:cNvPr id="3" name="Text 1"/>
          <p:cNvSpPr/>
          <p:nvPr>
            <p:ph type="title"/>
          </p:nvPr>
        </p:nvSpPr>
        <p:spPr>
          <a:xfrm>
            <a:off x="812782" y="1102274"/>
            <a:ext cx="10883429" cy="416547"/>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4213D"/>
                </a:solidFill>
                <a:latin typeface="EB Garamond" pitchFamily="18" charset="0"/>
                <a:ea typeface="EB Garamond" pitchFamily="18" charset="-122"/>
                <a:cs typeface="EB Garamond" pitchFamily="18" charset="-120"/>
              </a:rPr>
              <a:t>Predict the cloth's shape from the character's pose</a:t>
            </a:r>
            <a:endParaRPr lang="en-US" sz="2800" dirty="0"/>
          </a:p>
        </p:txBody>
      </p:sp>
      <p:sp>
        <p:nvSpPr>
          <p:cNvPr id="4" name="Text 2"/>
          <p:cNvSpPr/>
          <p:nvPr/>
        </p:nvSpPr>
        <p:spPr>
          <a:xfrm>
            <a:off x="812782" y="1747422"/>
            <a:ext cx="10883429" cy="55874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Simulating one coat takes about 180 s in the paper, but interactive applications need an answer in milliseconds. We learn a fast model that imitates the simulator.</a:t>
            </a:r>
            <a:endParaRPr lang="en-US" sz="1500" dirty="0"/>
          </a:p>
        </p:txBody>
      </p:sp>
      <p:sp>
        <p:nvSpPr>
          <p:cNvPr id="5" name="Shape 3"/>
          <p:cNvSpPr/>
          <p:nvPr/>
        </p:nvSpPr>
        <p:spPr>
          <a:xfrm>
            <a:off x="815957" y="2537941"/>
            <a:ext cx="3380347" cy="1663682"/>
          </a:xfrm>
          <a:prstGeom prst="roundRect">
            <a:avLst>
              <a:gd name="adj" fmla="val 5916"/>
            </a:avLst>
          </a:prstGeom>
          <a:solidFill>
            <a:srgbClr val="FFFDF8"/>
          </a:solidFill>
          <a:ln w="6350">
            <a:solidFill>
              <a:srgbClr val="DDD8CC"/>
            </a:solidFill>
            <a:prstDash val="solid"/>
          </a:ln>
        </p:spPr>
      </p:sp>
      <p:sp>
        <p:nvSpPr>
          <p:cNvPr id="6" name="Text 4"/>
          <p:cNvSpPr/>
          <p:nvPr/>
        </p:nvSpPr>
        <p:spPr>
          <a:xfrm>
            <a:off x="1072555" y="2794540"/>
            <a:ext cx="2953166"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Input</a:t>
            </a:r>
            <a:endParaRPr lang="en-US" sz="1800" dirty="0"/>
          </a:p>
        </p:txBody>
      </p:sp>
      <p:sp>
        <p:nvSpPr>
          <p:cNvPr id="7" name="Text 5"/>
          <p:cNvSpPr/>
          <p:nvPr/>
        </p:nvSpPr>
        <p:spPr>
          <a:xfrm>
            <a:off x="1072555" y="3145008"/>
            <a:ext cx="2953166" cy="82541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The pose (72 SMPL numbers) plus body shape (10) and garment style (4): 86 numbers.</a:t>
            </a:r>
            <a:endParaRPr lang="en-US" sz="1500" dirty="0"/>
          </a:p>
        </p:txBody>
      </p:sp>
      <p:sp>
        <p:nvSpPr>
          <p:cNvPr id="8" name="Shape 6"/>
          <p:cNvSpPr/>
          <p:nvPr/>
        </p:nvSpPr>
        <p:spPr>
          <a:xfrm>
            <a:off x="4405826" y="2537941"/>
            <a:ext cx="3380347" cy="1663682"/>
          </a:xfrm>
          <a:prstGeom prst="roundRect">
            <a:avLst>
              <a:gd name="adj" fmla="val 5916"/>
            </a:avLst>
          </a:prstGeom>
          <a:solidFill>
            <a:srgbClr val="FFFDF8"/>
          </a:solidFill>
          <a:ln w="6350">
            <a:solidFill>
              <a:srgbClr val="DDD8CC"/>
            </a:solidFill>
            <a:prstDash val="solid"/>
          </a:ln>
        </p:spPr>
      </p:sp>
      <p:sp>
        <p:nvSpPr>
          <p:cNvPr id="9" name="Text 7"/>
          <p:cNvSpPr/>
          <p:nvPr/>
        </p:nvSpPr>
        <p:spPr>
          <a:xfrm>
            <a:off x="4662424" y="2794540"/>
            <a:ext cx="2953166"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Output</a:t>
            </a:r>
            <a:endParaRPr lang="en-US" sz="1800" dirty="0"/>
          </a:p>
        </p:txBody>
      </p:sp>
      <p:sp>
        <p:nvSpPr>
          <p:cNvPr id="10" name="Text 8"/>
          <p:cNvSpPr/>
          <p:nvPr/>
        </p:nvSpPr>
        <p:spPr>
          <a:xfrm>
            <a:off x="4662424" y="3145008"/>
            <a:ext cx="2953166" cy="82541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The offset of every garment vertex from the rest garment: 3 numbers per vertex, 8,130 in all.</a:t>
            </a:r>
            <a:endParaRPr lang="en-US" sz="1500" dirty="0"/>
          </a:p>
        </p:txBody>
      </p:sp>
      <p:sp>
        <p:nvSpPr>
          <p:cNvPr id="11" name="Shape 9"/>
          <p:cNvSpPr/>
          <p:nvPr/>
        </p:nvSpPr>
        <p:spPr>
          <a:xfrm>
            <a:off x="7995696" y="2537941"/>
            <a:ext cx="3380347" cy="1663682"/>
          </a:xfrm>
          <a:prstGeom prst="roundRect">
            <a:avLst>
              <a:gd name="adj" fmla="val 5916"/>
            </a:avLst>
          </a:prstGeom>
          <a:solidFill>
            <a:srgbClr val="FFFDF8"/>
          </a:solidFill>
          <a:ln w="6350">
            <a:solidFill>
              <a:srgbClr val="DDD8CC"/>
            </a:solidFill>
            <a:prstDash val="solid"/>
          </a:ln>
        </p:spPr>
      </p:sp>
      <p:sp>
        <p:nvSpPr>
          <p:cNvPr id="12" name="Text 10"/>
          <p:cNvSpPr/>
          <p:nvPr/>
        </p:nvSpPr>
        <p:spPr>
          <a:xfrm>
            <a:off x="8252294" y="2794540"/>
            <a:ext cx="2953166"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Goal</a:t>
            </a:r>
            <a:endParaRPr lang="en-US" sz="1800" dirty="0"/>
          </a:p>
        </p:txBody>
      </p:sp>
      <p:sp>
        <p:nvSpPr>
          <p:cNvPr id="13" name="Text 11"/>
          <p:cNvSpPr/>
          <p:nvPr/>
        </p:nvSpPr>
        <p:spPr>
          <a:xfrm>
            <a:off x="8252294" y="3145008"/>
            <a:ext cx="2953166" cy="82541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Learn the pose-to-offset map with a neural network and compare it with linear regression.</a:t>
            </a:r>
            <a:endParaRPr lang="en-US" sz="1500" dirty="0"/>
          </a:p>
        </p:txBody>
      </p:sp>
      <p:sp>
        <p:nvSpPr>
          <p:cNvPr id="14" name="Text 12"/>
          <p:cNvSpPr/>
          <p:nvPr/>
        </p:nvSpPr>
        <p:spPr>
          <a:xfrm>
            <a:off x="812782" y="6238289"/>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Supervised regression: 86 inputs, 8,130 output values</a:t>
            </a:r>
            <a:endParaRPr lang="en-US" sz="1200" dirty="0"/>
          </a:p>
        </p:txBody>
      </p:sp>
      <p:sp>
        <p:nvSpPr>
          <p:cNvPr id="15" name="Text 13"/>
          <p:cNvSpPr/>
          <p:nvPr/>
        </p:nvSpPr>
        <p:spPr>
          <a:xfrm>
            <a:off x="10058418" y="6238289"/>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5 / 13</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57A"/>
                </a:solidFill>
                <a:latin typeface="IBM Plex Sans" pitchFamily="34" charset="0"/>
                <a:ea typeface="IBM Plex Sans" pitchFamily="34" charset="-122"/>
                <a:cs typeface="IBM Plex Sans" pitchFamily="34" charset="-120"/>
              </a:rPr>
              <a:t>DATASET</a:t>
            </a:r>
            <a:endParaRPr lang="en-US" sz="1200" dirty="0"/>
          </a:p>
        </p:txBody>
      </p:sp>
      <p:sp>
        <p:nvSpPr>
          <p:cNvPr id="3" name="Text 1"/>
          <p:cNvSpPr/>
          <p:nvPr>
            <p:ph type="title"/>
          </p:nvPr>
        </p:nvSpPr>
        <p:spPr>
          <a:xfrm>
            <a:off x="812782" y="1102274"/>
            <a:ext cx="10883429" cy="416547"/>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4213D"/>
                </a:solidFill>
                <a:latin typeface="EB Garamond" pitchFamily="18" charset="0"/>
                <a:ea typeface="EB Garamond" pitchFamily="18" charset="-122"/>
                <a:cs typeface="EB Garamond" pitchFamily="18" charset="-120"/>
              </a:rPr>
              <a:t>Dataset: public TailorNet garment simulations</a:t>
            </a:r>
            <a:endParaRPr lang="en-US" sz="2800" dirty="0"/>
          </a:p>
        </p:txBody>
      </p:sp>
      <p:sp>
        <p:nvSpPr>
          <p:cNvPr id="4" name="Shape 2"/>
          <p:cNvSpPr/>
          <p:nvPr/>
        </p:nvSpPr>
        <p:spPr>
          <a:xfrm>
            <a:off x="815957" y="1750597"/>
            <a:ext cx="5175259" cy="2241541"/>
          </a:xfrm>
          <a:prstGeom prst="roundRect">
            <a:avLst>
              <a:gd name="adj" fmla="val 4391"/>
            </a:avLst>
          </a:prstGeom>
          <a:solidFill>
            <a:srgbClr val="FFFDF8"/>
          </a:solidFill>
          <a:ln w="6350">
            <a:solidFill>
              <a:srgbClr val="DDD8CC"/>
            </a:solidFill>
            <a:prstDash val="solid"/>
          </a:ln>
        </p:spPr>
      </p:sp>
      <p:sp>
        <p:nvSpPr>
          <p:cNvPr id="5" name="Text 3"/>
          <p:cNvSpPr/>
          <p:nvPr/>
        </p:nvSpPr>
        <p:spPr>
          <a:xfrm>
            <a:off x="1072555" y="1981758"/>
            <a:ext cx="4801925"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Paper (Xue &amp; Wu)</a:t>
            </a:r>
            <a:endParaRPr lang="en-US" sz="1800" dirty="0"/>
          </a:p>
        </p:txBody>
      </p:sp>
      <p:sp>
        <p:nvSpPr>
          <p:cNvPr id="6" name="Text 4"/>
          <p:cNvSpPr/>
          <p:nvPr/>
        </p:nvSpPr>
        <p:spPr>
          <a:xfrm>
            <a:off x="1143675" y="2332227"/>
            <a:ext cx="4723185" cy="1454150"/>
          </a:xfrm>
          <a:prstGeom prst="rect">
            <a:avLst/>
          </a:prstGeom>
          <a:noFill/>
          <a:ln/>
        </p:spPr>
        <p:txBody>
          <a:bodyPr wrap="square" lIns="0" tIns="0" rIns="0" bIns="0" rtlCol="0" anchor="t">
            <a:normAutofit/>
          </a:bodyPr>
          <a:lstStyle/>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10,000 coat poses, Blender + PhysBAM</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2,170 vertices, so 6,510 outputs</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9,813 kept after an outlier filter</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Split 6,000 / 2,000 / 1,813</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Dataset not publicly available</a:t>
            </a:r>
            <a:endParaRPr lang="en-US" sz="1500" dirty="0"/>
          </a:p>
        </p:txBody>
      </p:sp>
      <p:sp>
        <p:nvSpPr>
          <p:cNvPr id="7" name="Shape 5"/>
          <p:cNvSpPr/>
          <p:nvPr/>
        </p:nvSpPr>
        <p:spPr>
          <a:xfrm>
            <a:off x="6200739" y="1750597"/>
            <a:ext cx="5175304" cy="2241541"/>
          </a:xfrm>
          <a:prstGeom prst="roundRect">
            <a:avLst>
              <a:gd name="adj" fmla="val 4391"/>
            </a:avLst>
          </a:prstGeom>
          <a:solidFill>
            <a:srgbClr val="FFFDF8"/>
          </a:solidFill>
          <a:ln w="6350">
            <a:solidFill>
              <a:srgbClr val="DDD8CC"/>
            </a:solidFill>
            <a:prstDash val="solid"/>
          </a:ln>
        </p:spPr>
      </p:sp>
      <p:sp>
        <p:nvSpPr>
          <p:cNvPr id="8" name="Text 6"/>
          <p:cNvSpPr/>
          <p:nvPr/>
        </p:nvSpPr>
        <p:spPr>
          <a:xfrm>
            <a:off x="6457336" y="1981758"/>
            <a:ext cx="4801972"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Ours (TailorNet)</a:t>
            </a:r>
            <a:endParaRPr lang="en-US" sz="1800" dirty="0"/>
          </a:p>
        </p:txBody>
      </p:sp>
      <p:sp>
        <p:nvSpPr>
          <p:cNvPr id="9" name="Text 7"/>
          <p:cNvSpPr/>
          <p:nvPr/>
        </p:nvSpPr>
        <p:spPr>
          <a:xfrm>
            <a:off x="6528456" y="2332227"/>
            <a:ext cx="4723232" cy="1454150"/>
          </a:xfrm>
          <a:prstGeom prst="rect">
            <a:avLst/>
          </a:prstGeom>
          <a:noFill/>
          <a:ln/>
        </p:spPr>
        <p:txBody>
          <a:bodyPr wrap="square" lIns="0" tIns="0" rIns="0" bIns="0" rtlCol="0" anchor="t">
            <a:normAutofit/>
          </a:bodyPr>
          <a:lstStyle/>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TailorNet: public simulated garments (CVPR 2020)</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Male short pants: 2,710 vertices, so 8,130 outputs</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40 shape / style combos, 3,833 poses</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91 outliers removed (offset above 19.8 cm)</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Split 2,245 / 748 / 749</a:t>
            </a:r>
            <a:endParaRPr lang="en-US" sz="1500" dirty="0"/>
          </a:p>
        </p:txBody>
      </p:sp>
      <p:sp>
        <p:nvSpPr>
          <p:cNvPr id="10" name="Text 8"/>
          <p:cNvSpPr/>
          <p:nvPr/>
        </p:nvSpPr>
        <p:spPr>
          <a:xfrm>
            <a:off x="812782" y="4249313"/>
            <a:ext cx="10566436" cy="622237"/>
          </a:xfrm>
          <a:prstGeom prst="roundRect">
            <a:avLst>
              <a:gd name="adj" fmla="val 12246"/>
            </a:avLst>
          </a:prstGeom>
          <a:solidFill>
            <a:srgbClr val="14213D"/>
          </a:solidFill>
          <a:ln/>
        </p:spPr>
        <p:txBody>
          <a:bodyPr wrap="square" lIns="231682" tIns="155482" rIns="0" bIns="130046" rtlCol="0" anchor="t">
            <a:normAutofit/>
          </a:bodyPr>
          <a:lstStyle/>
          <a:p>
            <a:pPr algn="l" indent="0" marL="0">
              <a:lnSpc>
                <a:spcPts val="2100"/>
              </a:lnSpc>
              <a:buNone/>
            </a:pPr>
            <a:r>
              <a:rPr lang="en-US" sz="1500" dirty="0">
                <a:solidFill>
                  <a:srgbClr val="F6F4EE"/>
                </a:solidFill>
                <a:latin typeface="IBM Plex Sans" pitchFamily="34" charset="0"/>
                <a:ea typeface="IBM Plex Sans" pitchFamily="34" charset="-122"/>
                <a:cs typeface="IBM Plex Sans" pitchFamily="34" charset="-120"/>
              </a:rPr>
              <a:t>Same task as the paper, on real simulated cloth. Inputs: pose 72 + body shape 10 + garment style 4 = 86.</a:t>
            </a:r>
            <a:endParaRPr lang="en-US" sz="1500" dirty="0"/>
          </a:p>
        </p:txBody>
      </p:sp>
      <p:sp>
        <p:nvSpPr>
          <p:cNvPr id="11" name="Text 9"/>
          <p:cNvSpPr/>
          <p:nvPr/>
        </p:nvSpPr>
        <p:spPr>
          <a:xfrm>
            <a:off x="812782" y="6238286"/>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PCA is fitted on training data only</a:t>
            </a:r>
            <a:endParaRPr lang="en-US" sz="1200" dirty="0"/>
          </a:p>
        </p:txBody>
      </p:sp>
      <p:sp>
        <p:nvSpPr>
          <p:cNvPr id="12" name="Text 10"/>
          <p:cNvSpPr/>
          <p:nvPr/>
        </p:nvSpPr>
        <p:spPr>
          <a:xfrm>
            <a:off x="10058418" y="6238286"/>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6 / 13</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57A"/>
                </a:solidFill>
                <a:latin typeface="IBM Plex Sans" pitchFamily="34" charset="0"/>
                <a:ea typeface="IBM Plex Sans" pitchFamily="34" charset="-122"/>
                <a:cs typeface="IBM Plex Sans" pitchFamily="34" charset="-120"/>
              </a:rPr>
              <a:t>APPROACH</a:t>
            </a:r>
            <a:endParaRPr lang="en-US" sz="1200" dirty="0"/>
          </a:p>
        </p:txBody>
      </p:sp>
      <p:sp>
        <p:nvSpPr>
          <p:cNvPr id="3" name="Text 1"/>
          <p:cNvSpPr/>
          <p:nvPr>
            <p:ph type="title"/>
          </p:nvPr>
        </p:nvSpPr>
        <p:spPr>
          <a:xfrm>
            <a:off x="812782" y="1102274"/>
            <a:ext cx="10883429" cy="416547"/>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4213D"/>
                </a:solidFill>
                <a:latin typeface="EB Garamond" pitchFamily="18" charset="0"/>
                <a:ea typeface="EB Garamond" pitchFamily="18" charset="-122"/>
                <a:cs typeface="EB Garamond" pitchFamily="18" charset="-120"/>
              </a:rPr>
              <a:t>Pose goes in, cloth offsets come out</a:t>
            </a:r>
            <a:endParaRPr lang="en-US" sz="2800" dirty="0"/>
          </a:p>
        </p:txBody>
      </p:sp>
      <p:sp>
        <p:nvSpPr>
          <p:cNvPr id="4" name="Shape 2"/>
          <p:cNvSpPr/>
          <p:nvPr/>
        </p:nvSpPr>
        <p:spPr>
          <a:xfrm>
            <a:off x="815957" y="1750597"/>
            <a:ext cx="1788788" cy="1041355"/>
          </a:xfrm>
          <a:prstGeom prst="roundRect">
            <a:avLst>
              <a:gd name="adj" fmla="val 9452"/>
            </a:avLst>
          </a:prstGeom>
          <a:solidFill>
            <a:srgbClr val="FFFDF8"/>
          </a:solidFill>
          <a:ln w="6350">
            <a:solidFill>
              <a:srgbClr val="DDD8CC"/>
            </a:solidFill>
            <a:prstDash val="solid"/>
          </a:ln>
        </p:spPr>
      </p:sp>
      <p:sp>
        <p:nvSpPr>
          <p:cNvPr id="5" name="Text 3"/>
          <p:cNvSpPr/>
          <p:nvPr/>
        </p:nvSpPr>
        <p:spPr>
          <a:xfrm>
            <a:off x="970946" y="1905586"/>
            <a:ext cx="1529610" cy="292073"/>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Pose</a:t>
            </a:r>
            <a:endParaRPr lang="en-US" sz="1500" dirty="0"/>
          </a:p>
        </p:txBody>
      </p:sp>
      <p:sp>
        <p:nvSpPr>
          <p:cNvPr id="6" name="Text 4"/>
          <p:cNvSpPr/>
          <p:nvPr/>
        </p:nvSpPr>
        <p:spPr>
          <a:xfrm>
            <a:off x="970946" y="2210321"/>
            <a:ext cx="152961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252"/>
                </a:solidFill>
                <a:latin typeface="IBM Plex Sans" pitchFamily="34" charset="0"/>
                <a:ea typeface="IBM Plex Sans" pitchFamily="34" charset="-122"/>
                <a:cs typeface="IBM Plex Sans" pitchFamily="34" charset="-120"/>
              </a:rPr>
              <a:t>86 numbers: pose, shape, style</a:t>
            </a:r>
            <a:endParaRPr lang="en-US" sz="1200" dirty="0"/>
          </a:p>
        </p:txBody>
      </p:sp>
      <p:pic>
        <p:nvPicPr>
          <p:cNvPr id="7" name="Image 0" descr="arrow-right">    </p:cNvPr>
          <p:cNvPicPr>
            <a:picLocks noChangeAspect="1"/>
          </p:cNvPicPr>
          <p:nvPr/>
        </p:nvPicPr>
        <p:blipFill>
          <a:blip r:embed="rId1"/>
          <a:srcRect l="-5" r="-5" t="0" b="0"/>
          <a:stretch/>
        </p:blipFill>
        <p:spPr>
          <a:xfrm>
            <a:off x="2684093" y="2182360"/>
            <a:ext cx="254000" cy="177782"/>
          </a:xfrm>
          <a:prstGeom prst="rect">
            <a:avLst/>
          </a:prstGeom>
        </p:spPr>
      </p:pic>
      <p:sp>
        <p:nvSpPr>
          <p:cNvPr id="8" name="Shape 5"/>
          <p:cNvSpPr/>
          <p:nvPr/>
        </p:nvSpPr>
        <p:spPr>
          <a:xfrm>
            <a:off x="3014265" y="1747422"/>
            <a:ext cx="1783592" cy="1047705"/>
          </a:xfrm>
          <a:prstGeom prst="roundRect">
            <a:avLst>
              <a:gd name="adj" fmla="val 9697"/>
            </a:avLst>
          </a:prstGeom>
          <a:solidFill>
            <a:srgbClr val="17757A"/>
          </a:solidFill>
          <a:ln/>
        </p:spPr>
      </p:sp>
      <p:sp>
        <p:nvSpPr>
          <p:cNvPr id="9" name="Text 6"/>
          <p:cNvSpPr/>
          <p:nvPr/>
        </p:nvSpPr>
        <p:spPr>
          <a:xfrm>
            <a:off x="3166657" y="1899813"/>
            <a:ext cx="1529610" cy="292073"/>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6F4EE"/>
                </a:solidFill>
                <a:latin typeface="IBM Plex Sans" pitchFamily="34" charset="0"/>
                <a:ea typeface="IBM Plex Sans" pitchFamily="34" charset="-122"/>
                <a:cs typeface="IBM Plex Sans" pitchFamily="34" charset="-120"/>
              </a:rPr>
              <a:t>MLP</a:t>
            </a:r>
            <a:endParaRPr lang="en-US" sz="1500" dirty="0"/>
          </a:p>
        </p:txBody>
      </p:sp>
      <p:sp>
        <p:nvSpPr>
          <p:cNvPr id="10" name="Text 7"/>
          <p:cNvSpPr/>
          <p:nvPr/>
        </p:nvSpPr>
        <p:spPr>
          <a:xfrm>
            <a:off x="3166657" y="2204548"/>
            <a:ext cx="152961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6F4EE"/>
                </a:solidFill>
                <a:latin typeface="IBM Plex Sans" pitchFamily="34" charset="0"/>
                <a:ea typeface="IBM Plex Sans" pitchFamily="34" charset="-122"/>
                <a:cs typeface="IBM Plex Sans" pitchFamily="34" charset="-120"/>
              </a:rPr>
              <a:t>128, 256 hidden units, ReLU</a:t>
            </a:r>
            <a:endParaRPr lang="en-US" sz="1200" dirty="0"/>
          </a:p>
        </p:txBody>
      </p:sp>
      <p:pic>
        <p:nvPicPr>
          <p:cNvPr id="11" name="Image 1" descr="arrow-right">    </p:cNvPr>
          <p:cNvPicPr>
            <a:picLocks noChangeAspect="1"/>
          </p:cNvPicPr>
          <p:nvPr/>
        </p:nvPicPr>
        <p:blipFill>
          <a:blip r:embed="rId2"/>
          <a:srcRect l="-5" r="-5" t="0" b="0"/>
          <a:stretch/>
        </p:blipFill>
        <p:spPr>
          <a:xfrm>
            <a:off x="4874031" y="2182360"/>
            <a:ext cx="254000" cy="177782"/>
          </a:xfrm>
          <a:prstGeom prst="rect">
            <a:avLst/>
          </a:prstGeom>
        </p:spPr>
      </p:pic>
      <p:sp>
        <p:nvSpPr>
          <p:cNvPr id="12" name="Shape 8"/>
          <p:cNvSpPr/>
          <p:nvPr/>
        </p:nvSpPr>
        <p:spPr>
          <a:xfrm>
            <a:off x="5204204" y="1747422"/>
            <a:ext cx="1783592" cy="1047705"/>
          </a:xfrm>
          <a:prstGeom prst="roundRect">
            <a:avLst>
              <a:gd name="adj" fmla="val 9697"/>
            </a:avLst>
          </a:prstGeom>
          <a:solidFill>
            <a:srgbClr val="17757A"/>
          </a:solidFill>
          <a:ln/>
        </p:spPr>
      </p:sp>
      <p:sp>
        <p:nvSpPr>
          <p:cNvPr id="13" name="Text 9"/>
          <p:cNvSpPr/>
          <p:nvPr/>
        </p:nvSpPr>
        <p:spPr>
          <a:xfrm>
            <a:off x="5356595" y="1899813"/>
            <a:ext cx="1529610" cy="292073"/>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6F4EE"/>
                </a:solidFill>
                <a:latin typeface="IBM Plex Sans" pitchFamily="34" charset="0"/>
                <a:ea typeface="IBM Plex Sans" pitchFamily="34" charset="-122"/>
                <a:cs typeface="IBM Plex Sans" pitchFamily="34" charset="-120"/>
              </a:rPr>
              <a:t>PCA coeffs</a:t>
            </a:r>
            <a:endParaRPr lang="en-US" sz="1500" dirty="0"/>
          </a:p>
        </p:txBody>
      </p:sp>
      <p:sp>
        <p:nvSpPr>
          <p:cNvPr id="14" name="Text 10"/>
          <p:cNvSpPr/>
          <p:nvPr/>
        </p:nvSpPr>
        <p:spPr>
          <a:xfrm>
            <a:off x="5356595" y="2204548"/>
            <a:ext cx="15296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6F4EE"/>
                </a:solidFill>
                <a:latin typeface="IBM Plex Sans" pitchFamily="34" charset="0"/>
                <a:ea typeface="IBM Plex Sans" pitchFamily="34" charset="-122"/>
                <a:cs typeface="IBM Plex Sans" pitchFamily="34" charset="-120"/>
              </a:rPr>
              <a:t>k = 64, 128 or 256</a:t>
            </a:r>
            <a:endParaRPr lang="en-US" sz="1200" dirty="0"/>
          </a:p>
        </p:txBody>
      </p:sp>
      <p:pic>
        <p:nvPicPr>
          <p:cNvPr id="15" name="Image 2" descr="arrow-right">    </p:cNvPr>
          <p:cNvPicPr>
            <a:picLocks noChangeAspect="1"/>
          </p:cNvPicPr>
          <p:nvPr/>
        </p:nvPicPr>
        <p:blipFill>
          <a:blip r:embed="rId3"/>
          <a:srcRect l="-5" r="-5" t="0" b="0"/>
          <a:stretch/>
        </p:blipFill>
        <p:spPr>
          <a:xfrm>
            <a:off x="7063969" y="2182360"/>
            <a:ext cx="254000" cy="177782"/>
          </a:xfrm>
          <a:prstGeom prst="rect">
            <a:avLst/>
          </a:prstGeom>
        </p:spPr>
      </p:pic>
      <p:sp>
        <p:nvSpPr>
          <p:cNvPr id="16" name="Shape 11"/>
          <p:cNvSpPr/>
          <p:nvPr/>
        </p:nvSpPr>
        <p:spPr>
          <a:xfrm>
            <a:off x="7394142" y="1747422"/>
            <a:ext cx="1783592" cy="1047705"/>
          </a:xfrm>
          <a:prstGeom prst="roundRect">
            <a:avLst>
              <a:gd name="adj" fmla="val 9697"/>
            </a:avLst>
          </a:prstGeom>
          <a:solidFill>
            <a:srgbClr val="14213D"/>
          </a:solidFill>
          <a:ln/>
        </p:spPr>
      </p:sp>
      <p:sp>
        <p:nvSpPr>
          <p:cNvPr id="17" name="Text 12"/>
          <p:cNvSpPr/>
          <p:nvPr/>
        </p:nvSpPr>
        <p:spPr>
          <a:xfrm>
            <a:off x="7546532" y="1899813"/>
            <a:ext cx="1529610" cy="292073"/>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6F4EE"/>
                </a:solidFill>
                <a:latin typeface="IBM Plex Sans" pitchFamily="34" charset="0"/>
                <a:ea typeface="IBM Plex Sans" pitchFamily="34" charset="-122"/>
                <a:cs typeface="IBM Plex Sans" pitchFamily="34" charset="-120"/>
              </a:rPr>
              <a:t>PCA layer</a:t>
            </a:r>
            <a:endParaRPr lang="en-US" sz="1500" dirty="0"/>
          </a:p>
        </p:txBody>
      </p:sp>
      <p:sp>
        <p:nvSpPr>
          <p:cNvPr id="18" name="Text 13"/>
          <p:cNvSpPr/>
          <p:nvPr/>
        </p:nvSpPr>
        <p:spPr>
          <a:xfrm>
            <a:off x="7546532" y="2204548"/>
            <a:ext cx="15296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6F4EE"/>
                </a:solidFill>
                <a:latin typeface="IBM Plex Sans" pitchFamily="34" charset="0"/>
                <a:ea typeface="IBM Plex Sans" pitchFamily="34" charset="-122"/>
                <a:cs typeface="IBM Plex Sans" pitchFamily="34" charset="-120"/>
              </a:rPr>
              <a:t>fixed, not trained</a:t>
            </a:r>
            <a:endParaRPr lang="en-US" sz="1200" dirty="0"/>
          </a:p>
        </p:txBody>
      </p:sp>
      <p:pic>
        <p:nvPicPr>
          <p:cNvPr id="19" name="Image 3" descr="arrow-right">    </p:cNvPr>
          <p:cNvPicPr>
            <a:picLocks noChangeAspect="1"/>
          </p:cNvPicPr>
          <p:nvPr/>
        </p:nvPicPr>
        <p:blipFill>
          <a:blip r:embed="rId4"/>
          <a:srcRect l="-5" r="-5" t="0" b="0"/>
          <a:stretch/>
        </p:blipFill>
        <p:spPr>
          <a:xfrm>
            <a:off x="9253907" y="2182360"/>
            <a:ext cx="254000" cy="177782"/>
          </a:xfrm>
          <a:prstGeom prst="rect">
            <a:avLst/>
          </a:prstGeom>
        </p:spPr>
      </p:pic>
      <p:sp>
        <p:nvSpPr>
          <p:cNvPr id="20" name="Shape 14"/>
          <p:cNvSpPr/>
          <p:nvPr/>
        </p:nvSpPr>
        <p:spPr>
          <a:xfrm>
            <a:off x="9587255" y="1750597"/>
            <a:ext cx="1788788" cy="1041355"/>
          </a:xfrm>
          <a:prstGeom prst="roundRect">
            <a:avLst>
              <a:gd name="adj" fmla="val 9452"/>
            </a:avLst>
          </a:prstGeom>
          <a:solidFill>
            <a:srgbClr val="FFFDF8"/>
          </a:solidFill>
          <a:ln w="6350">
            <a:solidFill>
              <a:srgbClr val="DDD8CC"/>
            </a:solidFill>
            <a:prstDash val="solid"/>
          </a:ln>
        </p:spPr>
      </p:sp>
      <p:sp>
        <p:nvSpPr>
          <p:cNvPr id="21" name="Text 15"/>
          <p:cNvSpPr/>
          <p:nvPr/>
        </p:nvSpPr>
        <p:spPr>
          <a:xfrm>
            <a:off x="9742243" y="1905586"/>
            <a:ext cx="1529610" cy="292073"/>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Offsets</a:t>
            </a:r>
            <a:endParaRPr lang="en-US" sz="1500" dirty="0"/>
          </a:p>
        </p:txBody>
      </p:sp>
      <p:sp>
        <p:nvSpPr>
          <p:cNvPr id="22" name="Text 16"/>
          <p:cNvSpPr/>
          <p:nvPr/>
        </p:nvSpPr>
        <p:spPr>
          <a:xfrm>
            <a:off x="9742243" y="2210321"/>
            <a:ext cx="152961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252"/>
                </a:solidFill>
                <a:latin typeface="IBM Plex Sans" pitchFamily="34" charset="0"/>
                <a:ea typeface="IBM Plex Sans" pitchFamily="34" charset="-122"/>
                <a:cs typeface="IBM Plex Sans" pitchFamily="34" charset="-120"/>
              </a:rPr>
              <a:t>8,130 values per pose</a:t>
            </a:r>
            <a:endParaRPr lang="en-US" sz="1200" dirty="0"/>
          </a:p>
        </p:txBody>
      </p:sp>
      <p:sp>
        <p:nvSpPr>
          <p:cNvPr id="23" name="Text 17"/>
          <p:cNvSpPr/>
          <p:nvPr/>
        </p:nvSpPr>
        <p:spPr>
          <a:xfrm>
            <a:off x="812782" y="2896688"/>
            <a:ext cx="1088342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Teal = trained, navy = fixed. k is the number of principal components kept.</a:t>
            </a:r>
            <a:endParaRPr lang="en-US" sz="1200" dirty="0"/>
          </a:p>
        </p:txBody>
      </p:sp>
      <p:sp>
        <p:nvSpPr>
          <p:cNvPr id="24" name="Shape 18"/>
          <p:cNvSpPr/>
          <p:nvPr/>
        </p:nvSpPr>
        <p:spPr>
          <a:xfrm>
            <a:off x="815957" y="3367184"/>
            <a:ext cx="3380347" cy="1612810"/>
          </a:xfrm>
          <a:prstGeom prst="roundRect">
            <a:avLst>
              <a:gd name="adj" fmla="val 6103"/>
            </a:avLst>
          </a:prstGeom>
          <a:solidFill>
            <a:srgbClr val="FFFDF8"/>
          </a:solidFill>
          <a:ln w="6350">
            <a:solidFill>
              <a:srgbClr val="DDD8CC"/>
            </a:solidFill>
            <a:prstDash val="solid"/>
          </a:ln>
        </p:spPr>
      </p:sp>
      <p:sp>
        <p:nvSpPr>
          <p:cNvPr id="25" name="Text 19"/>
          <p:cNvSpPr/>
          <p:nvPr/>
        </p:nvSpPr>
        <p:spPr>
          <a:xfrm>
            <a:off x="1072555" y="3598348"/>
            <a:ext cx="2953166"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PCA</a:t>
            </a:r>
            <a:endParaRPr lang="en-US" sz="1800" dirty="0"/>
          </a:p>
        </p:txBody>
      </p:sp>
      <p:sp>
        <p:nvSpPr>
          <p:cNvPr id="26" name="Text 20"/>
          <p:cNvSpPr/>
          <p:nvPr/>
        </p:nvSpPr>
        <p:spPr>
          <a:xfrm>
            <a:off x="1072555" y="3948813"/>
            <a:ext cx="2953166" cy="55874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Fitted on training offsets only; keeps the top-k directions.</a:t>
            </a:r>
            <a:endParaRPr lang="en-US" sz="1500" dirty="0"/>
          </a:p>
        </p:txBody>
      </p:sp>
      <p:sp>
        <p:nvSpPr>
          <p:cNvPr id="27" name="Shape 21"/>
          <p:cNvSpPr/>
          <p:nvPr/>
        </p:nvSpPr>
        <p:spPr>
          <a:xfrm>
            <a:off x="4405826" y="3367184"/>
            <a:ext cx="3380347" cy="1612810"/>
          </a:xfrm>
          <a:prstGeom prst="roundRect">
            <a:avLst>
              <a:gd name="adj" fmla="val 6103"/>
            </a:avLst>
          </a:prstGeom>
          <a:solidFill>
            <a:srgbClr val="FFFDF8"/>
          </a:solidFill>
          <a:ln w="6350">
            <a:solidFill>
              <a:srgbClr val="DDD8CC"/>
            </a:solidFill>
            <a:prstDash val="solid"/>
          </a:ln>
        </p:spPr>
      </p:sp>
      <p:sp>
        <p:nvSpPr>
          <p:cNvPr id="28" name="Text 22"/>
          <p:cNvSpPr/>
          <p:nvPr/>
        </p:nvSpPr>
        <p:spPr>
          <a:xfrm>
            <a:off x="4662424" y="3598348"/>
            <a:ext cx="2953166"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Training</a:t>
            </a:r>
            <a:endParaRPr lang="en-US" sz="1800" dirty="0"/>
          </a:p>
        </p:txBody>
      </p:sp>
      <p:sp>
        <p:nvSpPr>
          <p:cNvPr id="29" name="Text 23"/>
          <p:cNvSpPr/>
          <p:nvPr/>
        </p:nvSpPr>
        <p:spPr>
          <a:xfrm>
            <a:off x="4662424" y="3948813"/>
            <a:ext cx="2953166" cy="55874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MSE on offsets, Adam, lr 1e-4, batch 32, 200 and 1,000 epochs.</a:t>
            </a:r>
            <a:endParaRPr lang="en-US" sz="1500" dirty="0"/>
          </a:p>
        </p:txBody>
      </p:sp>
      <p:sp>
        <p:nvSpPr>
          <p:cNvPr id="30" name="Shape 24"/>
          <p:cNvSpPr/>
          <p:nvPr/>
        </p:nvSpPr>
        <p:spPr>
          <a:xfrm>
            <a:off x="7995696" y="3367184"/>
            <a:ext cx="3380347" cy="1612810"/>
          </a:xfrm>
          <a:prstGeom prst="roundRect">
            <a:avLst>
              <a:gd name="adj" fmla="val 6103"/>
            </a:avLst>
          </a:prstGeom>
          <a:solidFill>
            <a:srgbClr val="FFFDF8"/>
          </a:solidFill>
          <a:ln w="6350">
            <a:solidFill>
              <a:srgbClr val="DDD8CC"/>
            </a:solidFill>
            <a:prstDash val="solid"/>
          </a:ln>
        </p:spPr>
      </p:sp>
      <p:sp>
        <p:nvSpPr>
          <p:cNvPr id="31" name="Text 25"/>
          <p:cNvSpPr/>
          <p:nvPr/>
        </p:nvSpPr>
        <p:spPr>
          <a:xfrm>
            <a:off x="8252294" y="3598348"/>
            <a:ext cx="2953166"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Baseline</a:t>
            </a:r>
            <a:endParaRPr lang="en-US" sz="1800" dirty="0"/>
          </a:p>
        </p:txBody>
      </p:sp>
      <p:sp>
        <p:nvSpPr>
          <p:cNvPr id="32" name="Text 26"/>
          <p:cNvSpPr/>
          <p:nvPr/>
        </p:nvSpPr>
        <p:spPr>
          <a:xfrm>
            <a:off x="8252294" y="3948813"/>
            <a:ext cx="2953166" cy="82541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Linear regression, no hidden layer; also direct offsets without PCA.</a:t>
            </a:r>
            <a:endParaRPr lang="en-US" sz="1500" dirty="0"/>
          </a:p>
        </p:txBody>
      </p:sp>
      <p:sp>
        <p:nvSpPr>
          <p:cNvPr id="33" name="Text 27"/>
          <p:cNvSpPr/>
          <p:nvPr/>
        </p:nvSpPr>
        <p:spPr>
          <a:xfrm>
            <a:off x="812782" y="6238286"/>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Loss is measured on the reconstructed vertex offsets</a:t>
            </a:r>
            <a:endParaRPr lang="en-US" sz="1200" dirty="0"/>
          </a:p>
        </p:txBody>
      </p:sp>
      <p:sp>
        <p:nvSpPr>
          <p:cNvPr id="34" name="Text 28"/>
          <p:cNvSpPr/>
          <p:nvPr/>
        </p:nvSpPr>
        <p:spPr>
          <a:xfrm>
            <a:off x="10058418" y="6238286"/>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7 / 13</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782" y="812784"/>
            <a:ext cx="1088342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57A"/>
                </a:solidFill>
                <a:latin typeface="IBM Plex Sans" pitchFamily="34" charset="0"/>
                <a:ea typeface="IBM Plex Sans" pitchFamily="34" charset="-122"/>
                <a:cs typeface="IBM Plex Sans" pitchFamily="34" charset="-120"/>
              </a:rPr>
              <a:t>IMPLEMENTATION</a:t>
            </a:r>
            <a:endParaRPr lang="en-US" sz="1200" dirty="0"/>
          </a:p>
        </p:txBody>
      </p:sp>
      <p:sp>
        <p:nvSpPr>
          <p:cNvPr id="3" name="Text 1"/>
          <p:cNvSpPr/>
          <p:nvPr>
            <p:ph type="title"/>
          </p:nvPr>
        </p:nvSpPr>
        <p:spPr>
          <a:xfrm>
            <a:off x="812782" y="1102277"/>
            <a:ext cx="10883429" cy="416547"/>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4213D"/>
                </a:solidFill>
                <a:latin typeface="EB Garamond" pitchFamily="18" charset="0"/>
                <a:ea typeface="EB Garamond" pitchFamily="18" charset="-122"/>
                <a:cs typeface="EB Garamond" pitchFamily="18" charset="-120"/>
              </a:rPr>
              <a:t>The network: 86 numbers in, 8,130 numbers out</a:t>
            </a:r>
            <a:endParaRPr lang="en-US" sz="2800" dirty="0"/>
          </a:p>
        </p:txBody>
      </p:sp>
      <p:sp>
        <p:nvSpPr>
          <p:cNvPr id="4" name="Shape 2"/>
          <p:cNvSpPr/>
          <p:nvPr/>
        </p:nvSpPr>
        <p:spPr>
          <a:xfrm>
            <a:off x="1333500" y="1696597"/>
            <a:ext cx="9525000" cy="3175000"/>
          </a:xfrm>
          <a:prstGeom prst="roundRect">
            <a:avLst>
              <a:gd name="adj" fmla="val 2400"/>
            </a:avLst>
          </a:prstGeom>
          <a:solidFill>
            <a:srgbClr val="FFFFFF"/>
          </a:solidFill>
          <a:ln/>
        </p:spPr>
      </p:sp>
      <p:pic>
        <p:nvPicPr>
          <p:cNvPr id="5" name="Image 0" descr="Network diagram: input of 86 numbers, hidden layer of 128 neurons, hidden layer of 256 neurons, k PCA coefficients, a fixed PCA layer, and an output of 8,130 offsets">    </p:cNvPr>
          <p:cNvPicPr>
            <a:picLocks noChangeAspect="1"/>
          </p:cNvPicPr>
          <p:nvPr/>
        </p:nvPicPr>
        <p:blipFill>
          <a:blip r:embed="rId1"/>
          <a:srcRect l="-134" r="-134" t="0" b="0"/>
          <a:stretch/>
        </p:blipFill>
        <p:spPr>
          <a:xfrm>
            <a:off x="1339850" y="1702947"/>
            <a:ext cx="9512300" cy="3162300"/>
          </a:xfrm>
          <a:prstGeom prst="roundRect">
            <a:avLst>
              <a:gd name="adj" fmla="val 2209"/>
            </a:avLst>
          </a:prstGeom>
        </p:spPr>
      </p:pic>
      <p:sp>
        <p:nvSpPr>
          <p:cNvPr id="6" name="Shape 3"/>
          <p:cNvSpPr/>
          <p:nvPr/>
        </p:nvSpPr>
        <p:spPr>
          <a:xfrm>
            <a:off x="1336675" y="1699772"/>
            <a:ext cx="9518650" cy="3168650"/>
          </a:xfrm>
          <a:prstGeom prst="roundRect">
            <a:avLst>
              <a:gd name="adj" fmla="val 2305"/>
            </a:avLst>
          </a:prstGeom>
          <a:noFill/>
          <a:ln w="6350">
            <a:solidFill>
              <a:srgbClr val="DDD8CC"/>
            </a:solidFill>
            <a:prstDash val="solid"/>
          </a:ln>
        </p:spPr>
      </p:sp>
      <p:sp>
        <p:nvSpPr>
          <p:cNvPr id="7" name="Text 4"/>
          <p:cNvSpPr/>
          <p:nvPr/>
        </p:nvSpPr>
        <p:spPr>
          <a:xfrm>
            <a:off x="812782" y="5074769"/>
            <a:ext cx="10883429" cy="292073"/>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Two hidden layers predict k PCA coefficients; a fixed PCA layer turns them into the offset of every garment vertex.</a:t>
            </a:r>
            <a:endParaRPr lang="en-US" sz="1500" dirty="0"/>
          </a:p>
        </p:txBody>
      </p:sp>
      <p:sp>
        <p:nvSpPr>
          <p:cNvPr id="8" name="Text 5"/>
          <p:cNvSpPr/>
          <p:nvPr/>
        </p:nvSpPr>
        <p:spPr>
          <a:xfrm>
            <a:off x="812782" y="6238289"/>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Teal = trained, navy = fixed. Only the teal layers are trained.</a:t>
            </a:r>
            <a:endParaRPr lang="en-US" sz="1200" dirty="0"/>
          </a:p>
        </p:txBody>
      </p:sp>
      <p:sp>
        <p:nvSpPr>
          <p:cNvPr id="9" name="Text 6"/>
          <p:cNvSpPr/>
          <p:nvPr/>
        </p:nvSpPr>
        <p:spPr>
          <a:xfrm>
            <a:off x="10058418" y="6238289"/>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8 / 13</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57A"/>
                </a:solidFill>
                <a:latin typeface="IBM Plex Sans" pitchFamily="34" charset="0"/>
                <a:ea typeface="IBM Plex Sans" pitchFamily="34" charset="-122"/>
                <a:cs typeface="IBM Plex Sans" pitchFamily="34" charset="-120"/>
              </a:rPr>
              <a:t>IMPLEMENTATION</a:t>
            </a:r>
            <a:endParaRPr lang="en-US" sz="1200" dirty="0"/>
          </a:p>
        </p:txBody>
      </p:sp>
      <p:sp>
        <p:nvSpPr>
          <p:cNvPr id="3" name="Text 1"/>
          <p:cNvSpPr/>
          <p:nvPr>
            <p:ph type="title"/>
          </p:nvPr>
        </p:nvSpPr>
        <p:spPr>
          <a:xfrm>
            <a:off x="812782" y="1102271"/>
            <a:ext cx="10883429" cy="416547"/>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4213D"/>
                </a:solidFill>
                <a:latin typeface="EB Garamond" pitchFamily="18" charset="0"/>
                <a:ea typeface="EB Garamond" pitchFamily="18" charset="-122"/>
                <a:cs typeface="EB Garamond" pitchFamily="18" charset="-120"/>
              </a:rPr>
              <a:t>Six small files, each with one job</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4327" y="1758967"/>
          <a:ext cx="10554890" cy="2880726"/>
        </p:xfrm>
        <a:graphic>
          <a:graphicData uri="http://schemas.openxmlformats.org/drawingml/2006/table">
            <a:tbl>
              <a:tblPr/>
              <a:tblGrid>
                <a:gridCol w="2744271"/>
                <a:gridCol w="7810619"/>
              </a:tblGrid>
              <a:tr h="411532">
                <a:tc>
                  <a:txBody>
                    <a:bodyPr/>
                    <a:lstStyle/>
                    <a:p>
                      <a:pPr indent="0" marL="0">
                        <a:lnSpc>
                          <a:spcPts val="2100"/>
                        </a:lnSpc>
                        <a:buNone/>
                      </a:pPr>
                      <a:r>
                        <a:rPr lang="en-US" sz="1500" b="1" dirty="0">
                          <a:solidFill>
                            <a:srgbClr val="F6F4EE"/>
                          </a:solidFill>
                          <a:latin typeface="IBM Plex Sans" pitchFamily="34" charset="0"/>
                          <a:ea typeface="IBM Plex Sans" pitchFamily="34" charset="-122"/>
                          <a:cs typeface="IBM Plex Sans" pitchFamily="34" charset="-120"/>
                        </a:rPr>
                        <a:t>File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3BE"/>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2100"/>
                        </a:lnSpc>
                        <a:buNone/>
                      </a:pPr>
                      <a:r>
                        <a:rPr lang="en-US" sz="1500" b="1" dirty="0">
                          <a:solidFill>
                            <a:srgbClr val="F6F4EE"/>
                          </a:solidFill>
                          <a:latin typeface="IBM Plex Sans" pitchFamily="34" charset="0"/>
                          <a:ea typeface="IBM Plex Sans" pitchFamily="34" charset="-122"/>
                          <a:cs typeface="IBM Plex Sans" pitchFamily="34" charset="-120"/>
                        </a:rPr>
                        <a:t>What it does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r>
              <a:tr h="411532">
                <a:tc>
                  <a:txBody>
                    <a:bodyPr/>
                    <a:lstStyle/>
                    <a:p>
                      <a:pP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src/data_tailornet.py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Loads TailorNet, builds the offsets, filters outliers, splits train / val / test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411532">
                <a:tc>
                  <a:txBody>
                    <a:bodyPr/>
                    <a:lstStyle/>
                    <a:p>
                      <a:pP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src/pca.py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3BE"/>
                      </a:solidFill>
                      <a:prstDash val="solid"/>
                      <a:round/>
                      <a:headEnd type="none" w="med" len="med"/>
                      <a:tailEnd type="none" w="med" len="med"/>
                    </a:lnL>
                    <a:lnR w="12700" cap="flat" cmpd="sng" algn="ctr">
                      <a:solidFill>
                        <a:srgbClr val="BBB8A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BB8AE"/>
                      </a:solidFill>
                      <a:prstDash val="solid"/>
                      <a:round/>
                      <a:headEnd type="none" w="med" len="med"/>
                      <a:tailEnd type="none" w="med" len="med"/>
                    </a:lnB>
                    <a:solidFill>
                      <a:srgbClr val="EAE6DA"/>
                    </a:solidFill>
                  </a:tcPr>
                </a:tc>
                <a:tc>
                  <a:txBody>
                    <a:bodyPr/>
                    <a:lstStyle/>
                    <a:p>
                      <a:pP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PCA by SVD on the training offsets, top-k components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BB8AE"/>
                      </a:solidFill>
                      <a:prstDash val="solid"/>
                      <a:round/>
                      <a:headEnd type="none" w="med" len="med"/>
                      <a:tailEnd type="none" w="med" len="med"/>
                    </a:lnL>
                    <a:lnR w="12700" cap="flat" cmpd="sng" algn="ctr">
                      <a:solidFill>
                        <a:srgbClr val="BBB8A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BB8AE"/>
                      </a:solidFill>
                      <a:prstDash val="solid"/>
                      <a:round/>
                      <a:headEnd type="none" w="med" len="med"/>
                      <a:tailEnd type="none" w="med" len="med"/>
                    </a:lnB>
                    <a:solidFill>
                      <a:srgbClr val="EAE6DA"/>
                    </a:solidFill>
                  </a:tcPr>
                </a:tc>
              </a:tr>
              <a:tr h="411532">
                <a:tc>
                  <a:txBody>
                    <a:bodyPr/>
                    <a:lstStyle/>
                    <a:p>
                      <a:pP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src/model.py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BB8A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MLP with a fixed PCA layer; closed-form linear baseline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BB8A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411532">
                <a:tc>
                  <a:txBody>
                    <a:bodyPr/>
                    <a:lstStyle/>
                    <a:p>
                      <a:pP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src/train.py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3BE"/>
                      </a:solidFill>
                      <a:prstDash val="solid"/>
                      <a:round/>
                      <a:headEnd type="none" w="med" len="med"/>
                      <a:tailEnd type="none" w="med" len="med"/>
                    </a:lnL>
                    <a:lnR w="12700" cap="flat" cmpd="sng" algn="ctr">
                      <a:solidFill>
                        <a:srgbClr val="BBB8A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BB8AE"/>
                      </a:solidFill>
                      <a:prstDash val="solid"/>
                      <a:round/>
                      <a:headEnd type="none" w="med" len="med"/>
                      <a:tailEnd type="none" w="med" len="med"/>
                    </a:lnB>
                    <a:solidFill>
                      <a:srgbClr val="EAE6DA"/>
                    </a:solidFill>
                  </a:tcPr>
                </a:tc>
                <a:tc>
                  <a:txBody>
                    <a:bodyPr/>
                    <a:lstStyle/>
                    <a:p>
                      <a:pP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Training loop; keeps the best-validation checkpoint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BB8AE"/>
                      </a:solidFill>
                      <a:prstDash val="solid"/>
                      <a:round/>
                      <a:headEnd type="none" w="med" len="med"/>
                      <a:tailEnd type="none" w="med" len="med"/>
                    </a:lnL>
                    <a:lnR w="12700" cap="flat" cmpd="sng" algn="ctr">
                      <a:solidFill>
                        <a:srgbClr val="BBB8A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BB8AE"/>
                      </a:solidFill>
                      <a:prstDash val="solid"/>
                      <a:round/>
                      <a:headEnd type="none" w="med" len="med"/>
                      <a:tailEnd type="none" w="med" len="med"/>
                    </a:lnB>
                    <a:solidFill>
                      <a:srgbClr val="EAE6DA"/>
                    </a:solidFill>
                  </a:tcPr>
                </a:tc>
              </a:tr>
              <a:tr h="411532">
                <a:tc>
                  <a:txBody>
                    <a:bodyPr/>
                    <a:lstStyle/>
                    <a:p>
                      <a:pP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src/evaluate.py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BB8A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Test metrics, timing and all the plots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BB8A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411532">
                <a:tc>
                  <a:txBody>
                    <a:bodyPr/>
                    <a:lstStyle/>
                    <a:p>
                      <a:pP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demo.py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3BE"/>
                      </a:solidFill>
                      <a:prstDash val="solid"/>
                      <a:round/>
                      <a:headEnd type="none" w="med" len="med"/>
                      <a:tailEnd type="none" w="med" len="med"/>
                    </a:lnL>
                    <a:lnR w="12700" cap="flat" cmpd="sng" algn="ctr">
                      <a:solidFill>
                        <a:srgbClr val="BBB8A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BB8AE"/>
                      </a:solidFill>
                      <a:prstDash val="solid"/>
                      <a:round/>
                      <a:headEnd type="none" w="med" len="med"/>
                      <a:tailEnd type="none" w="med" len="med"/>
                    </a:lnB>
                    <a:solidFill>
                      <a:srgbClr val="EAE6DA"/>
                    </a:solidFill>
                  </a:tcPr>
                </a:tc>
                <a:tc>
                  <a:txBody>
                    <a:bodyPr/>
                    <a:lstStyle/>
                    <a:p>
                      <a:pPr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Live viewer: ground truth vs predicted cloth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BB8AE"/>
                      </a:solidFill>
                      <a:prstDash val="solid"/>
                      <a:round/>
                      <a:headEnd type="none" w="med" len="med"/>
                      <a:tailEnd type="none" w="med" len="med"/>
                    </a:lnL>
                    <a:lnR w="12700" cap="flat" cmpd="sng" algn="ctr">
                      <a:solidFill>
                        <a:srgbClr val="BBB8A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BB8AE"/>
                      </a:solidFill>
                      <a:prstDash val="solid"/>
                      <a:round/>
                      <a:headEnd type="none" w="med" len="med"/>
                      <a:tailEnd type="none" w="med" len="med"/>
                    </a:lnB>
                    <a:solidFill>
                      <a:srgbClr val="EAE6DA"/>
                    </a:solidFill>
                  </a:tcPr>
                </a:tc>
              </a:tr>
            </a:tbl>
          </a:graphicData>
        </a:graphic>
      </p:graphicFrame>
      <p:sp>
        <p:nvSpPr>
          <p:cNvPr id="5" name="Text 2"/>
          <p:cNvSpPr/>
          <p:nvPr/>
        </p:nvSpPr>
        <p:spPr>
          <a:xfrm>
            <a:off x="812782" y="4893692"/>
            <a:ext cx="10883429" cy="292073"/>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PyTorch, NumPy, Matplotlib. Private GitHub repo with a README; one script (run_all_tn.bat) reproduces every result.</a:t>
            </a:r>
            <a:endParaRPr lang="en-US" sz="1500" dirty="0"/>
          </a:p>
        </p:txBody>
      </p:sp>
      <p:sp>
        <p:nvSpPr>
          <p:cNvPr id="6" name="Text 3"/>
          <p:cNvSpPr/>
          <p:nvPr/>
        </p:nvSpPr>
        <p:spPr>
          <a:xfrm>
            <a:off x="812782" y="6238286"/>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Run: python -m src.train --name tn_pca128 --mode pca --k 128 --data data/tailornet.npz</a:t>
            </a:r>
            <a:endParaRPr lang="en-US" sz="1200" dirty="0"/>
          </a:p>
        </p:txBody>
      </p:sp>
      <p:sp>
        <p:nvSpPr>
          <p:cNvPr id="7" name="Text 4"/>
          <p:cNvSpPr/>
          <p:nvPr/>
        </p:nvSpPr>
        <p:spPr>
          <a:xfrm>
            <a:off x="10058418" y="6238286"/>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9 / 13</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57A"/>
                </a:solidFill>
                <a:latin typeface="IBM Plex Sans" pitchFamily="34" charset="0"/>
                <a:ea typeface="IBM Plex Sans" pitchFamily="34" charset="-122"/>
                <a:cs typeface="IBM Plex Sans" pitchFamily="34" charset="-120"/>
              </a:rPr>
              <a:t>LIVE DEMO</a:t>
            </a:r>
            <a:endParaRPr lang="en-US" sz="1200" dirty="0"/>
          </a:p>
        </p:txBody>
      </p:sp>
      <p:sp>
        <p:nvSpPr>
          <p:cNvPr id="3" name="Text 1"/>
          <p:cNvSpPr/>
          <p:nvPr>
            <p:ph type="title"/>
          </p:nvPr>
        </p:nvSpPr>
        <p:spPr>
          <a:xfrm>
            <a:off x="812782" y="1102271"/>
            <a:ext cx="10883429" cy="416547"/>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4213D"/>
                </a:solidFill>
                <a:latin typeface="EB Garamond" pitchFamily="18" charset="0"/>
                <a:ea typeface="EB Garamond" pitchFamily="18" charset="-122"/>
                <a:cs typeface="EB Garamond" pitchFamily="18" charset="-120"/>
              </a:rPr>
              <a:t>Ground truth vs prediction on a test pose</a:t>
            </a:r>
            <a:endParaRPr lang="en-US" sz="2800" dirty="0"/>
          </a:p>
        </p:txBody>
      </p:sp>
      <p:sp>
        <p:nvSpPr>
          <p:cNvPr id="4" name="Shape 2"/>
          <p:cNvSpPr/>
          <p:nvPr/>
        </p:nvSpPr>
        <p:spPr>
          <a:xfrm>
            <a:off x="815957" y="1750597"/>
            <a:ext cx="5181031" cy="1955791"/>
          </a:xfrm>
          <a:prstGeom prst="roundRect">
            <a:avLst>
              <a:gd name="adj" fmla="val 5032"/>
            </a:avLst>
          </a:prstGeom>
          <a:solidFill>
            <a:srgbClr val="FFFDF8"/>
          </a:solidFill>
          <a:ln w="6350">
            <a:solidFill>
              <a:srgbClr val="DDD8CC"/>
            </a:solidFill>
            <a:prstDash val="solid"/>
          </a:ln>
        </p:spPr>
      </p:sp>
      <p:sp>
        <p:nvSpPr>
          <p:cNvPr id="5" name="Text 3"/>
          <p:cNvSpPr/>
          <p:nvPr/>
        </p:nvSpPr>
        <p:spPr>
          <a:xfrm>
            <a:off x="1072555" y="1981758"/>
            <a:ext cx="4807871"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What you will see</a:t>
            </a:r>
            <a:endParaRPr lang="en-US" sz="1800" dirty="0"/>
          </a:p>
        </p:txBody>
      </p:sp>
      <p:sp>
        <p:nvSpPr>
          <p:cNvPr id="6" name="Text 4"/>
          <p:cNvSpPr/>
          <p:nvPr/>
        </p:nvSpPr>
        <p:spPr>
          <a:xfrm>
            <a:off x="1143675" y="2332224"/>
            <a:ext cx="4729131" cy="1168400"/>
          </a:xfrm>
          <a:prstGeom prst="rect">
            <a:avLst/>
          </a:prstGeom>
          <a:noFill/>
          <a:ln/>
        </p:spPr>
        <p:txBody>
          <a:bodyPr wrap="square" lIns="0" tIns="0" rIns="0" bIns="0" rtlCol="0" anchor="t">
            <a:normAutofit/>
          </a:bodyPr>
          <a:lstStyle/>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The real simulated garment for a test pose</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The prediction of the PCA-128 network</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The prediction of linear regression</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An error map of the PCA-128 prediction</a:t>
            </a:r>
            <a:endParaRPr lang="en-US" sz="1500" dirty="0"/>
          </a:p>
        </p:txBody>
      </p:sp>
      <p:sp>
        <p:nvSpPr>
          <p:cNvPr id="7" name="Shape 5"/>
          <p:cNvSpPr/>
          <p:nvPr/>
        </p:nvSpPr>
        <p:spPr>
          <a:xfrm>
            <a:off x="6203336" y="1747422"/>
            <a:ext cx="5175881" cy="1962141"/>
          </a:xfrm>
          <a:prstGeom prst="roundRect">
            <a:avLst>
              <a:gd name="adj" fmla="val 5178"/>
            </a:avLst>
          </a:prstGeom>
          <a:solidFill>
            <a:srgbClr val="14213D"/>
          </a:solidFill>
          <a:ln/>
        </p:spPr>
      </p:sp>
      <p:sp>
        <p:nvSpPr>
          <p:cNvPr id="8" name="Text 6"/>
          <p:cNvSpPr/>
          <p:nvPr/>
        </p:nvSpPr>
        <p:spPr>
          <a:xfrm>
            <a:off x="6457336" y="1975985"/>
            <a:ext cx="4807918"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E9B44C"/>
                </a:solidFill>
                <a:latin typeface="EB Garamond" pitchFamily="18" charset="0"/>
                <a:ea typeface="EB Garamond" pitchFamily="18" charset="-122"/>
                <a:cs typeface="EB Garamond" pitchFamily="18" charset="-120"/>
              </a:rPr>
              <a:t>How to use it</a:t>
            </a:r>
            <a:endParaRPr lang="en-US" sz="1800" dirty="0"/>
          </a:p>
        </p:txBody>
      </p:sp>
      <p:sp>
        <p:nvSpPr>
          <p:cNvPr id="9" name="Text 7"/>
          <p:cNvSpPr/>
          <p:nvPr/>
        </p:nvSpPr>
        <p:spPr>
          <a:xfrm>
            <a:off x="6528456" y="2326450"/>
            <a:ext cx="4729178" cy="1168400"/>
          </a:xfrm>
          <a:prstGeom prst="rect">
            <a:avLst/>
          </a:prstGeom>
          <a:noFill/>
          <a:ln/>
        </p:spPr>
        <p:txBody>
          <a:bodyPr wrap="square" lIns="0" tIns="0" rIns="0" bIns="0" rtlCol="0" anchor="t">
            <a:normAutofit/>
          </a:bodyPr>
          <a:lstStyle/>
          <a:p>
            <a:pPr algn="l" marL="182880" indent="-182880">
              <a:lnSpc>
                <a:spcPts val="2250"/>
              </a:lnSpc>
              <a:buSzPct val="100000"/>
              <a:buChar char="•"/>
            </a:pPr>
            <a:r>
              <a:rPr lang="en-US" sz="1500" dirty="0">
                <a:solidFill>
                  <a:srgbClr val="F6F4EE"/>
                </a:solidFill>
                <a:latin typeface="IBM Plex Sans" pitchFamily="34" charset="0"/>
                <a:ea typeface="IBM Plex Sans" pitchFamily="34" charset="-122"/>
                <a:cs typeface="IBM Plex Sans" pitchFamily="34" charset="-120"/>
              </a:rPr>
              <a:t>Left and right arrow keys step through test poses</a:t>
            </a:r>
            <a:endParaRPr lang="en-US" sz="1500" dirty="0"/>
          </a:p>
          <a:p>
            <a:pPr algn="l" marL="182880" indent="-182880">
              <a:lnSpc>
                <a:spcPts val="2250"/>
              </a:lnSpc>
              <a:buSzPct val="100000"/>
              <a:buChar char="•"/>
            </a:pPr>
            <a:r>
              <a:rPr lang="en-US" sz="1500" dirty="0">
                <a:solidFill>
                  <a:srgbClr val="F6F4EE"/>
                </a:solidFill>
                <a:latin typeface="IBM Plex Sans" pitchFamily="34" charset="0"/>
                <a:ea typeface="IBM Plex Sans" pitchFamily="34" charset="-122"/>
                <a:cs typeface="IBM Plex Sans" pitchFamily="34" charset="-120"/>
              </a:rPr>
              <a:t>Linear regression looks visibly worse than the network</a:t>
            </a:r>
            <a:endParaRPr lang="en-US" sz="1500" dirty="0"/>
          </a:p>
          <a:p>
            <a:pPr algn="l" marL="182880" indent="-182880">
              <a:lnSpc>
                <a:spcPts val="2250"/>
              </a:lnSpc>
              <a:buSzPct val="100000"/>
              <a:buChar char="•"/>
            </a:pPr>
            <a:r>
              <a:rPr lang="en-US" sz="1500" dirty="0">
                <a:solidFill>
                  <a:srgbClr val="F6F4EE"/>
                </a:solidFill>
                <a:latin typeface="IBM Plex Sans" pitchFamily="34" charset="0"/>
                <a:ea typeface="IBM Plex Sans" pitchFamily="34" charset="-122"/>
                <a:cs typeface="IBM Plex Sans" pitchFamily="34" charset="-120"/>
              </a:rPr>
              <a:t>The 3D view can be rotated with the mouse</a:t>
            </a:r>
            <a:endParaRPr lang="en-US" sz="1500" dirty="0"/>
          </a:p>
        </p:txBody>
      </p:sp>
      <p:sp>
        <p:nvSpPr>
          <p:cNvPr id="10" name="Text 8"/>
          <p:cNvSpPr/>
          <p:nvPr/>
        </p:nvSpPr>
        <p:spPr>
          <a:xfrm>
            <a:off x="812782" y="3963560"/>
            <a:ext cx="10883429" cy="292073"/>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Point-cloud view of the garment, drawn for one test pose at a time.</a:t>
            </a:r>
            <a:endParaRPr lang="en-US" sz="1500" dirty="0"/>
          </a:p>
        </p:txBody>
      </p:sp>
      <p:sp>
        <p:nvSpPr>
          <p:cNvPr id="11" name="Text 9"/>
          <p:cNvSpPr/>
          <p:nvPr/>
        </p:nvSpPr>
        <p:spPr>
          <a:xfrm>
            <a:off x="812782" y="6238286"/>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python demo.py --model tn_pca128 --compare tn_linreg --data data/tailornet.npz</a:t>
            </a:r>
            <a:endParaRPr lang="en-US" sz="1200" dirty="0"/>
          </a:p>
        </p:txBody>
      </p:sp>
      <p:sp>
        <p:nvSpPr>
          <p:cNvPr id="12" name="Text 10"/>
          <p:cNvSpPr/>
          <p:nvPr/>
        </p:nvSpPr>
        <p:spPr>
          <a:xfrm>
            <a:off x="10058418" y="6238286"/>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10 / 13</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57A"/>
                </a:solidFill>
                <a:latin typeface="IBM Plex Sans" pitchFamily="34" charset="0"/>
                <a:ea typeface="IBM Plex Sans" pitchFamily="34" charset="-122"/>
                <a:cs typeface="IBM Plex Sans" pitchFamily="34" charset="-120"/>
              </a:rPr>
              <a:t>RESULTS</a:t>
            </a:r>
            <a:endParaRPr lang="en-US" sz="1200" dirty="0"/>
          </a:p>
        </p:txBody>
      </p:sp>
      <p:sp>
        <p:nvSpPr>
          <p:cNvPr id="3" name="Text 1"/>
          <p:cNvSpPr/>
          <p:nvPr>
            <p:ph type="title"/>
          </p:nvPr>
        </p:nvSpPr>
        <p:spPr>
          <a:xfrm>
            <a:off x="812782" y="1102271"/>
            <a:ext cx="10883429" cy="416547"/>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4213D"/>
                </a:solidFill>
                <a:latin typeface="EB Garamond" pitchFamily="18" charset="0"/>
                <a:ea typeface="EB Garamond" pitchFamily="18" charset="-122"/>
                <a:cs typeface="EB Garamond" pitchFamily="18" charset="-120"/>
              </a:rPr>
              <a:t>The neural networks cut the error by 55–58%</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4327" y="1758967"/>
          <a:ext cx="5957454" cy="2942377"/>
        </p:xfrm>
        <a:graphic>
          <a:graphicData uri="http://schemas.openxmlformats.org/drawingml/2006/table">
            <a:tbl>
              <a:tblPr/>
              <a:tblGrid>
                <a:gridCol w="2025534"/>
                <a:gridCol w="1072342"/>
                <a:gridCol w="953193"/>
                <a:gridCol w="953193"/>
                <a:gridCol w="953193"/>
              </a:tblGrid>
              <a:tr h="633647">
                <a:tc>
                  <a:txBody>
                    <a:bodyPr/>
                    <a:lstStyle/>
                    <a:p>
                      <a:pPr indent="0" marL="0">
                        <a:lnSpc>
                          <a:spcPts val="1960"/>
                        </a:lnSpc>
                        <a:buNone/>
                      </a:pPr>
                      <a:r>
                        <a:rPr lang="en-US" sz="1400" b="1" dirty="0">
                          <a:solidFill>
                            <a:srgbClr val="F6F4EE"/>
                          </a:solidFill>
                          <a:latin typeface="IBM Plex Sans" pitchFamily="34" charset="0"/>
                          <a:ea typeface="IBM Plex Sans" pitchFamily="34" charset="-122"/>
                          <a:cs typeface="IBM Plex Sans" pitchFamily="34" charset="-120"/>
                        </a:rPr>
                        <a:t>Model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algn="r" indent="0" marL="0">
                        <a:lnSpc>
                          <a:spcPts val="1960"/>
                        </a:lnSpc>
                        <a:buNone/>
                      </a:pPr>
                      <a:r>
                        <a:rPr lang="en-US" sz="1400" b="1" dirty="0">
                          <a:solidFill>
                            <a:srgbClr val="F6F4EE"/>
                          </a:solidFill>
                          <a:latin typeface="IBM Plex Sans" pitchFamily="34" charset="0"/>
                          <a:ea typeface="IBM Plex Sans" pitchFamily="34" charset="-122"/>
                          <a:cs typeface="IBM Plex Sans" pitchFamily="34" charset="-120"/>
                        </a:rPr>
                        <a:t>Params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algn="r" indent="0" marL="0">
                        <a:lnSpc>
                          <a:spcPts val="1960"/>
                        </a:lnSpc>
                        <a:buNone/>
                      </a:pPr>
                      <a:r>
                        <a:rPr lang="en-US" sz="1400" b="1" dirty="0">
                          <a:solidFill>
                            <a:srgbClr val="F6F4EE"/>
                          </a:solidFill>
                          <a:latin typeface="IBM Plex Sans" pitchFamily="34" charset="0"/>
                          <a:ea typeface="IBM Plex Sans" pitchFamily="34" charset="-122"/>
                          <a:cs typeface="IBM Plex Sans" pitchFamily="34" charset="-120"/>
                        </a:rPr>
                        <a:t>MSE, 200 ep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algn="r" indent="0" marL="0">
                        <a:lnSpc>
                          <a:spcPts val="1960"/>
                        </a:lnSpc>
                        <a:buNone/>
                      </a:pPr>
                      <a:r>
                        <a:rPr lang="en-US" sz="1400" b="1" dirty="0">
                          <a:solidFill>
                            <a:srgbClr val="F6F4EE"/>
                          </a:solidFill>
                          <a:latin typeface="IBM Plex Sans" pitchFamily="34" charset="0"/>
                          <a:ea typeface="IBM Plex Sans" pitchFamily="34" charset="-122"/>
                          <a:cs typeface="IBM Plex Sans" pitchFamily="34" charset="-120"/>
                        </a:rPr>
                        <a:t>MSE, 1000 ep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algn="r" indent="0" marL="0">
                        <a:lnSpc>
                          <a:spcPts val="1960"/>
                        </a:lnSpc>
                        <a:buNone/>
                      </a:pPr>
                      <a:r>
                        <a:rPr lang="en-US" sz="1400" b="1" dirty="0">
                          <a:solidFill>
                            <a:srgbClr val="F6F4EE"/>
                          </a:solidFill>
                          <a:latin typeface="IBM Plex Sans" pitchFamily="34" charset="0"/>
                          <a:ea typeface="IBM Plex Sans" pitchFamily="34" charset="-122"/>
                          <a:cs typeface="IBM Plex Sans" pitchFamily="34" charset="-120"/>
                        </a:rPr>
                        <a:t>Vertex err.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r>
              <a:tr h="384788">
                <a:tc>
                  <a:txBody>
                    <a:bodyPr/>
                    <a:lstStyle/>
                    <a:p>
                      <a:pP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Predict mean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1.868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1.868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384788">
                <a:tc>
                  <a:txBody>
                    <a:bodyPr/>
                    <a:lstStyle/>
                    <a:p>
                      <a:pP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Linear regression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707,310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0.907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0.907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1.207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384788">
                <a:tc>
                  <a:txBody>
                    <a:bodyPr/>
                    <a:lstStyle/>
                    <a:p>
                      <a:pP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MLP direct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2,133,570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0.475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0.379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0.753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r>
              <a:tr h="384788">
                <a:tc>
                  <a:txBody>
                    <a:bodyPr/>
                    <a:lstStyle/>
                    <a:p>
                      <a:pP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MLP + PCA 256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109,952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0.662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0.403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0.788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r>
              <a:tr h="384788">
                <a:tc>
                  <a:txBody>
                    <a:bodyPr/>
                    <a:lstStyle/>
                    <a:p>
                      <a:pP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MLP + PCA 128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77,056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0.662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0.406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0.793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r>
              <a:tr h="384788">
                <a:tc>
                  <a:txBody>
                    <a:bodyPr/>
                    <a:lstStyle/>
                    <a:p>
                      <a:pP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MLP + PCA 64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60,608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0.660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0.410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algn="r" indent="0" marL="0">
                        <a:lnSpc>
                          <a:spcPts val="1960"/>
                        </a:lnSpc>
                        <a:buNone/>
                      </a:pPr>
                      <a:r>
                        <a:rPr lang="en-US" sz="1400" dirty="0">
                          <a:solidFill>
                            <a:srgbClr val="3B4252"/>
                          </a:solidFill>
                          <a:latin typeface="IBM Plex Sans" pitchFamily="34" charset="0"/>
                          <a:ea typeface="IBM Plex Sans" pitchFamily="34" charset="-122"/>
                          <a:cs typeface="IBM Plex Sans" pitchFamily="34" charset="-120"/>
                        </a:rPr>
                        <a:t>0.799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r>
            </a:tbl>
          </a:graphicData>
        </a:graphic>
      </p:graphicFrame>
      <p:sp>
        <p:nvSpPr>
          <p:cNvPr id="5" name="Shape 2"/>
          <p:cNvSpPr/>
          <p:nvPr/>
        </p:nvSpPr>
        <p:spPr>
          <a:xfrm>
            <a:off x="7086564" y="1747422"/>
            <a:ext cx="4064000" cy="2711423"/>
          </a:xfrm>
          <a:prstGeom prst="roundRect">
            <a:avLst>
              <a:gd name="adj" fmla="val 2810"/>
            </a:avLst>
          </a:prstGeom>
          <a:solidFill>
            <a:srgbClr val="FFFFFF"/>
          </a:solidFill>
          <a:ln/>
        </p:spPr>
      </p:sp>
      <p:pic>
        <p:nvPicPr>
          <p:cNvPr id="6" name="Image 0" descr="Validation MSE against epoch for the direct network and the three PCA networks over 1,000 epochs; the direct curve levels off near 0.35 while the PCA curves are still slowly falling">    </p:cNvPr>
          <p:cNvPicPr>
            <a:picLocks noChangeAspect="1"/>
          </p:cNvPicPr>
          <p:nvPr/>
        </p:nvPicPr>
        <p:blipFill>
          <a:blip r:embed="rId1"/>
          <a:srcRect l="-40" r="-40" t="0" b="0"/>
          <a:stretch/>
        </p:blipFill>
        <p:spPr>
          <a:xfrm>
            <a:off x="7092914" y="1753772"/>
            <a:ext cx="4051300" cy="2698723"/>
          </a:xfrm>
          <a:prstGeom prst="roundRect">
            <a:avLst>
              <a:gd name="adj" fmla="val 2588"/>
            </a:avLst>
          </a:prstGeom>
        </p:spPr>
      </p:pic>
      <p:sp>
        <p:nvSpPr>
          <p:cNvPr id="7" name="Shape 3"/>
          <p:cNvSpPr/>
          <p:nvPr/>
        </p:nvSpPr>
        <p:spPr>
          <a:xfrm>
            <a:off x="7089739" y="1750597"/>
            <a:ext cx="4057650" cy="2705073"/>
          </a:xfrm>
          <a:prstGeom prst="roundRect">
            <a:avLst>
              <a:gd name="adj" fmla="val 2700"/>
            </a:avLst>
          </a:prstGeom>
          <a:noFill/>
          <a:ln w="6350">
            <a:solidFill>
              <a:srgbClr val="DDD8CC"/>
            </a:solidFill>
            <a:prstDash val="solid"/>
          </a:ln>
        </p:spPr>
      </p:sp>
      <p:sp>
        <p:nvSpPr>
          <p:cNvPr id="8" name="Text 4"/>
          <p:cNvSpPr/>
          <p:nvPr/>
        </p:nvSpPr>
        <p:spPr>
          <a:xfrm>
            <a:off x="7086564" y="4535016"/>
            <a:ext cx="41859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Validation MSE over 1,000 epochs (log scale)</a:t>
            </a:r>
            <a:endParaRPr lang="en-US" sz="1200" dirty="0"/>
          </a:p>
        </p:txBody>
      </p:sp>
      <p:sp>
        <p:nvSpPr>
          <p:cNvPr id="9" name="Text 5"/>
          <p:cNvSpPr/>
          <p:nvPr/>
        </p:nvSpPr>
        <p:spPr>
          <a:xfrm>
            <a:off x="812782" y="5002337"/>
            <a:ext cx="10883429" cy="292073"/>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Direct is best (0.379); the PCA versions are within 6–8% and 19–35× smaller.</a:t>
            </a:r>
            <a:endParaRPr lang="en-US" sz="1500" dirty="0"/>
          </a:p>
        </p:txBody>
      </p:sp>
      <p:sp>
        <p:nvSpPr>
          <p:cNvPr id="10" name="Text 6"/>
          <p:cNvSpPr/>
          <p:nvPr/>
        </p:nvSpPr>
        <p:spPr>
          <a:xfrm>
            <a:off x="812782" y="6238286"/>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Test set (749 poses, seed 0). MSE in cm², vertex error = mean distance per vertex in cm (1,000 epochs).</a:t>
            </a:r>
            <a:endParaRPr lang="en-US" sz="1200" dirty="0"/>
          </a:p>
        </p:txBody>
      </p:sp>
      <p:sp>
        <p:nvSpPr>
          <p:cNvPr id="11" name="Text 7"/>
          <p:cNvSpPr/>
          <p:nvPr/>
        </p:nvSpPr>
        <p:spPr>
          <a:xfrm>
            <a:off x="10058418" y="6238286"/>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11 / 13</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57A"/>
                </a:solidFill>
                <a:latin typeface="IBM Plex Sans" pitchFamily="34" charset="0"/>
                <a:ea typeface="IBM Plex Sans" pitchFamily="34" charset="-122"/>
                <a:cs typeface="IBM Plex Sans" pitchFamily="34" charset="-120"/>
              </a:rPr>
              <a:t>ABLATION</a:t>
            </a:r>
            <a:endParaRPr lang="en-US" sz="1200" dirty="0"/>
          </a:p>
        </p:txBody>
      </p:sp>
      <p:sp>
        <p:nvSpPr>
          <p:cNvPr id="3" name="Text 1"/>
          <p:cNvSpPr/>
          <p:nvPr>
            <p:ph type="title"/>
          </p:nvPr>
        </p:nvSpPr>
        <p:spPr>
          <a:xfrm>
            <a:off x="812782" y="1102271"/>
            <a:ext cx="10883429" cy="416547"/>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4213D"/>
                </a:solidFill>
                <a:latin typeface="EB Garamond" pitchFamily="18" charset="0"/>
                <a:ea typeface="EB Garamond" pitchFamily="18" charset="-122"/>
                <a:cs typeface="EB Garamond" pitchFamily="18" charset="-120"/>
              </a:rPr>
              <a:t>PCA shrinks the network 19–35× for 6–8% more error</a:t>
            </a:r>
            <a:endParaRPr lang="en-US" sz="2800" dirty="0"/>
          </a:p>
        </p:txBody>
      </p:sp>
      <p:sp>
        <p:nvSpPr>
          <p:cNvPr id="4" name="Shape 2"/>
          <p:cNvSpPr/>
          <p:nvPr/>
        </p:nvSpPr>
        <p:spPr>
          <a:xfrm>
            <a:off x="812782" y="1747422"/>
            <a:ext cx="6350000" cy="2413000"/>
          </a:xfrm>
          <a:prstGeom prst="roundRect">
            <a:avLst>
              <a:gd name="adj" fmla="val 3158"/>
            </a:avLst>
          </a:prstGeom>
          <a:solidFill>
            <a:srgbClr val="FFFFFF"/>
          </a:solidFill>
          <a:ln/>
        </p:spPr>
      </p:sp>
      <p:pic>
        <p:nvPicPr>
          <p:cNvPr id="5" name="Image 0" descr="Left: cumulative explained variance against number of principal components, rising steeply and passing 95 percent by about 60 components. Right: reconstruction error of a perfect predictor falling from about 1.2 at one component to about 0.03 at 256">    </p:cNvPr>
          <p:cNvPicPr>
            <a:picLocks noChangeAspect="1"/>
          </p:cNvPicPr>
          <p:nvPr/>
        </p:nvPicPr>
        <p:blipFill>
          <a:blip r:embed="rId1"/>
          <a:srcRect l="-164" r="-164" t="0" b="0"/>
          <a:stretch/>
        </p:blipFill>
        <p:spPr>
          <a:xfrm>
            <a:off x="819132" y="1753772"/>
            <a:ext cx="6337300" cy="2400300"/>
          </a:xfrm>
          <a:prstGeom prst="roundRect">
            <a:avLst>
              <a:gd name="adj" fmla="val 2910"/>
            </a:avLst>
          </a:prstGeom>
        </p:spPr>
      </p:pic>
      <p:sp>
        <p:nvSpPr>
          <p:cNvPr id="6" name="Shape 3"/>
          <p:cNvSpPr/>
          <p:nvPr/>
        </p:nvSpPr>
        <p:spPr>
          <a:xfrm>
            <a:off x="815957" y="1750597"/>
            <a:ext cx="6343650" cy="2406650"/>
          </a:xfrm>
          <a:prstGeom prst="roundRect">
            <a:avLst>
              <a:gd name="adj" fmla="val 3034"/>
            </a:avLst>
          </a:prstGeom>
          <a:noFill/>
          <a:ln w="6350">
            <a:solidFill>
              <a:srgbClr val="DDD8CC"/>
            </a:solidFill>
            <a:prstDash val="solid"/>
          </a:ln>
        </p:spPr>
      </p:sp>
      <p:sp>
        <p:nvSpPr>
          <p:cNvPr id="7" name="Shape 4"/>
          <p:cNvSpPr/>
          <p:nvPr/>
        </p:nvSpPr>
        <p:spPr>
          <a:xfrm>
            <a:off x="7467564" y="1747422"/>
            <a:ext cx="3911564" cy="1318121"/>
          </a:xfrm>
          <a:prstGeom prst="roundRect">
            <a:avLst>
              <a:gd name="adj" fmla="val 7708"/>
            </a:avLst>
          </a:prstGeom>
          <a:solidFill>
            <a:srgbClr val="14213D"/>
          </a:solidFill>
          <a:ln/>
        </p:spPr>
      </p:sp>
      <p:sp>
        <p:nvSpPr>
          <p:cNvPr id="8" name="Text 5"/>
          <p:cNvSpPr/>
          <p:nvPr/>
        </p:nvSpPr>
        <p:spPr>
          <a:xfrm>
            <a:off x="7696128" y="1925203"/>
            <a:ext cx="3558069" cy="416547"/>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E9B44C"/>
                </a:solidFill>
                <a:latin typeface="EB Garamond" pitchFamily="18" charset="0"/>
                <a:ea typeface="EB Garamond" pitchFamily="18" charset="-122"/>
                <a:cs typeface="EB Garamond" pitchFamily="18" charset="-120"/>
              </a:rPr>
              <a:t>35× fewer</a:t>
            </a:r>
            <a:endParaRPr lang="en-US" sz="2800" dirty="0"/>
          </a:p>
        </p:txBody>
      </p:sp>
      <p:sp>
        <p:nvSpPr>
          <p:cNvPr id="9" name="Text 6"/>
          <p:cNvSpPr/>
          <p:nvPr/>
        </p:nvSpPr>
        <p:spPr>
          <a:xfrm>
            <a:off x="7696128" y="2354411"/>
            <a:ext cx="3558069" cy="55874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4EE"/>
                </a:solidFill>
                <a:latin typeface="IBM Plex Sans" pitchFamily="34" charset="0"/>
                <a:ea typeface="IBM Plex Sans" pitchFamily="34" charset="-122"/>
                <a:cs typeface="IBM Plex Sans" pitchFamily="34" charset="-120"/>
              </a:rPr>
              <a:t>trainable parameters at k = 64: 60.6k vs 2.13M</a:t>
            </a:r>
            <a:endParaRPr lang="en-US" sz="1500" dirty="0"/>
          </a:p>
        </p:txBody>
      </p:sp>
      <p:sp>
        <p:nvSpPr>
          <p:cNvPr id="10" name="Shape 7"/>
          <p:cNvSpPr/>
          <p:nvPr/>
        </p:nvSpPr>
        <p:spPr>
          <a:xfrm>
            <a:off x="7467564" y="3217931"/>
            <a:ext cx="3911564" cy="1318121"/>
          </a:xfrm>
          <a:prstGeom prst="roundRect">
            <a:avLst>
              <a:gd name="adj" fmla="val 7708"/>
            </a:avLst>
          </a:prstGeom>
          <a:solidFill>
            <a:srgbClr val="14213D"/>
          </a:solidFill>
          <a:ln/>
        </p:spPr>
      </p:sp>
      <p:sp>
        <p:nvSpPr>
          <p:cNvPr id="11" name="Text 8"/>
          <p:cNvSpPr/>
          <p:nvPr/>
        </p:nvSpPr>
        <p:spPr>
          <a:xfrm>
            <a:off x="7696128" y="3395712"/>
            <a:ext cx="3558069" cy="416547"/>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E9B44C"/>
                </a:solidFill>
                <a:latin typeface="EB Garamond" pitchFamily="18" charset="0"/>
                <a:ea typeface="EB Garamond" pitchFamily="18" charset="-122"/>
                <a:cs typeface="EB Garamond" pitchFamily="18" charset="-120"/>
              </a:rPr>
              <a:t>6–8% higher</a:t>
            </a:r>
            <a:endParaRPr lang="en-US" sz="2800" dirty="0"/>
          </a:p>
        </p:txBody>
      </p:sp>
      <p:sp>
        <p:nvSpPr>
          <p:cNvPr id="12" name="Text 9"/>
          <p:cNvSpPr/>
          <p:nvPr/>
        </p:nvSpPr>
        <p:spPr>
          <a:xfrm>
            <a:off x="7696128" y="3824926"/>
            <a:ext cx="3558069" cy="55874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4EE"/>
                </a:solidFill>
                <a:latin typeface="IBM Plex Sans" pitchFamily="34" charset="0"/>
                <a:ea typeface="IBM Plex Sans" pitchFamily="34" charset="-122"/>
                <a:cs typeface="IBM Plex Sans" pitchFamily="34" charset="-120"/>
              </a:rPr>
              <a:t>test MSE than direct: 0.403–0.410 vs 0.379</a:t>
            </a:r>
            <a:endParaRPr lang="en-US" sz="1500" dirty="0"/>
          </a:p>
        </p:txBody>
      </p:sp>
      <p:sp>
        <p:nvSpPr>
          <p:cNvPr id="13" name="Text 10"/>
          <p:cNvSpPr/>
          <p:nvPr/>
        </p:nvSpPr>
        <p:spPr>
          <a:xfrm>
            <a:off x="812782" y="4790052"/>
            <a:ext cx="11379218" cy="292073"/>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252"/>
                </a:solidFill>
                <a:latin typeface="IBM Plex Sans" pitchFamily="34" charset="0"/>
                <a:ea typeface="IBM Plex Sans" pitchFamily="34" charset="-122"/>
                <a:cs typeface="IBM Plex Sans" pitchFamily="34" charset="-120"/>
              </a:rPr>
              <a:t>A perfect predictor with 64 components would still have an error of about 0.075, well below the model error of about 0.41.</a:t>
            </a:r>
            <a:endParaRPr lang="en-US" sz="1500" dirty="0"/>
          </a:p>
        </p:txBody>
      </p:sp>
      <p:sp>
        <p:nvSpPr>
          <p:cNvPr id="14" name="Text 11"/>
          <p:cNvSpPr/>
          <p:nvPr/>
        </p:nvSpPr>
        <p:spPr>
          <a:xfrm>
            <a:off x="812782" y="6238286"/>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Explained variance: training offsets. Reconstruction error: test set</a:t>
            </a:r>
            <a:endParaRPr lang="en-US" sz="1200" dirty="0"/>
          </a:p>
        </p:txBody>
      </p:sp>
      <p:sp>
        <p:nvSpPr>
          <p:cNvPr id="15" name="Text 12"/>
          <p:cNvSpPr/>
          <p:nvPr/>
        </p:nvSpPr>
        <p:spPr>
          <a:xfrm>
            <a:off x="10058418" y="6238286"/>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12 / 13</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7757A"/>
                </a:solidFill>
                <a:latin typeface="IBM Plex Sans" pitchFamily="34" charset="0"/>
                <a:ea typeface="IBM Plex Sans" pitchFamily="34" charset="-122"/>
                <a:cs typeface="IBM Plex Sans" pitchFamily="34" charset="-120"/>
              </a:rPr>
              <a:t>CONCLUSIONS</a:t>
            </a:r>
            <a:endParaRPr lang="en-US" sz="1200" dirty="0"/>
          </a:p>
        </p:txBody>
      </p:sp>
      <p:sp>
        <p:nvSpPr>
          <p:cNvPr id="3" name="Text 1"/>
          <p:cNvSpPr/>
          <p:nvPr>
            <p:ph type="title"/>
          </p:nvPr>
        </p:nvSpPr>
        <p:spPr>
          <a:xfrm>
            <a:off x="812782" y="1102271"/>
            <a:ext cx="10883429" cy="416547"/>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4213D"/>
                </a:solidFill>
                <a:latin typeface="EB Garamond" pitchFamily="18" charset="0"/>
                <a:ea typeface="EB Garamond" pitchFamily="18" charset="-122"/>
                <a:cs typeface="EB Garamond" pitchFamily="18" charset="-120"/>
              </a:rPr>
              <a:t>Learned cloth is fast, accurate and compact</a:t>
            </a:r>
            <a:endParaRPr lang="en-US" sz="2800" dirty="0"/>
          </a:p>
        </p:txBody>
      </p:sp>
      <p:sp>
        <p:nvSpPr>
          <p:cNvPr id="4" name="Shape 2"/>
          <p:cNvSpPr/>
          <p:nvPr/>
        </p:nvSpPr>
        <p:spPr>
          <a:xfrm>
            <a:off x="815957" y="1750597"/>
            <a:ext cx="5175259" cy="2813041"/>
          </a:xfrm>
          <a:prstGeom prst="roundRect">
            <a:avLst>
              <a:gd name="adj" fmla="val 3499"/>
            </a:avLst>
          </a:prstGeom>
          <a:solidFill>
            <a:srgbClr val="FFFDF8"/>
          </a:solidFill>
          <a:ln w="6350">
            <a:solidFill>
              <a:srgbClr val="DDD8CC"/>
            </a:solidFill>
            <a:prstDash val="solid"/>
          </a:ln>
        </p:spPr>
      </p:sp>
      <p:sp>
        <p:nvSpPr>
          <p:cNvPr id="5" name="Text 3"/>
          <p:cNvSpPr/>
          <p:nvPr/>
        </p:nvSpPr>
        <p:spPr>
          <a:xfrm>
            <a:off x="1072555" y="1981758"/>
            <a:ext cx="4801925"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Our findings</a:t>
            </a:r>
            <a:endParaRPr lang="en-US" sz="1800" dirty="0"/>
          </a:p>
        </p:txBody>
      </p:sp>
      <p:sp>
        <p:nvSpPr>
          <p:cNvPr id="6" name="Text 4"/>
          <p:cNvSpPr/>
          <p:nvPr/>
        </p:nvSpPr>
        <p:spPr>
          <a:xfrm>
            <a:off x="1143675" y="2332224"/>
            <a:ext cx="4723185" cy="1739900"/>
          </a:xfrm>
          <a:prstGeom prst="rect">
            <a:avLst/>
          </a:prstGeom>
          <a:noFill/>
          <a:ln/>
        </p:spPr>
        <p:txBody>
          <a:bodyPr wrap="square" lIns="0" tIns="0" rIns="0" bIns="0" rtlCol="0" anchor="t">
            <a:normAutofit/>
          </a:bodyPr>
          <a:lstStyle/>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Neural networks cut test MSE by 55–58% vs linear regression (0.907 to 0.379–0.410)</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PCA gives a 19–35× smaller network for 6–8% higher error</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0.015–0.064 ms per pose in batches on a CPU, far below a 16 ms frame</a:t>
            </a:r>
            <a:endParaRPr lang="en-US" sz="1500" dirty="0"/>
          </a:p>
        </p:txBody>
      </p:sp>
      <p:sp>
        <p:nvSpPr>
          <p:cNvPr id="7" name="Shape 5"/>
          <p:cNvSpPr/>
          <p:nvPr/>
        </p:nvSpPr>
        <p:spPr>
          <a:xfrm>
            <a:off x="6200739" y="1750597"/>
            <a:ext cx="5175304" cy="2813041"/>
          </a:xfrm>
          <a:prstGeom prst="roundRect">
            <a:avLst>
              <a:gd name="adj" fmla="val 3499"/>
            </a:avLst>
          </a:prstGeom>
          <a:solidFill>
            <a:srgbClr val="FFFDF8"/>
          </a:solidFill>
          <a:ln w="6350">
            <a:solidFill>
              <a:srgbClr val="DDD8CC"/>
            </a:solidFill>
            <a:prstDash val="solid"/>
          </a:ln>
        </p:spPr>
      </p:sp>
      <p:sp>
        <p:nvSpPr>
          <p:cNvPr id="8" name="Text 6"/>
          <p:cNvSpPr/>
          <p:nvPr/>
        </p:nvSpPr>
        <p:spPr>
          <a:xfrm>
            <a:off x="6457336" y="1981758"/>
            <a:ext cx="4801972" cy="29969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7757A"/>
                </a:solidFill>
                <a:latin typeface="EB Garamond" pitchFamily="18" charset="0"/>
                <a:ea typeface="EB Garamond" pitchFamily="18" charset="-122"/>
                <a:cs typeface="EB Garamond" pitchFamily="18" charset="-120"/>
              </a:rPr>
              <a:t>Compared with the paper</a:t>
            </a:r>
            <a:endParaRPr lang="en-US" sz="1800" dirty="0"/>
          </a:p>
        </p:txBody>
      </p:sp>
      <p:sp>
        <p:nvSpPr>
          <p:cNvPr id="9" name="Text 7"/>
          <p:cNvSpPr/>
          <p:nvPr/>
        </p:nvSpPr>
        <p:spPr>
          <a:xfrm>
            <a:off x="6528456" y="2332224"/>
            <a:ext cx="4723232" cy="2025650"/>
          </a:xfrm>
          <a:prstGeom prst="rect">
            <a:avLst/>
          </a:prstGeom>
          <a:noFill/>
          <a:ln/>
        </p:spPr>
        <p:txBody>
          <a:bodyPr wrap="square" lIns="0" tIns="0" rIns="0" bIns="0" rtlCol="0" anchor="t">
            <a:normAutofit/>
          </a:bodyPr>
          <a:lstStyle/>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Same trend: linear regression is 2.4× worse than the best network (paper: 2.6×)</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The paper found PCA about 6% better than direct; we see 6–8% worse, with PCA still improving at 1,000 epochs</a:t>
            </a:r>
            <a:endParaRPr lang="en-US" sz="1500" dirty="0"/>
          </a:p>
          <a:p>
            <a:pPr algn="l" marL="182880" indent="-182880">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Next: several seeds, longer training, a split by body shape</a:t>
            </a:r>
            <a:endParaRPr lang="en-US" sz="1500" dirty="0"/>
          </a:p>
        </p:txBody>
      </p:sp>
      <p:sp>
        <p:nvSpPr>
          <p:cNvPr id="10" name="Text 8"/>
          <p:cNvSpPr/>
          <p:nvPr/>
        </p:nvSpPr>
        <p:spPr>
          <a:xfrm>
            <a:off x="812782" y="4820810"/>
            <a:ext cx="10566436" cy="622237"/>
          </a:xfrm>
          <a:prstGeom prst="roundRect">
            <a:avLst>
              <a:gd name="adj" fmla="val 12246"/>
            </a:avLst>
          </a:prstGeom>
          <a:solidFill>
            <a:srgbClr val="14213D"/>
          </a:solidFill>
          <a:ln/>
        </p:spPr>
        <p:txBody>
          <a:bodyPr wrap="square" lIns="231682" tIns="155482" rIns="0" bIns="130046" rtlCol="0" anchor="t">
            <a:normAutofit/>
          </a:bodyPr>
          <a:lstStyle/>
          <a:p>
            <a:pPr algn="l" indent="0" marL="0">
              <a:lnSpc>
                <a:spcPts val="2100"/>
              </a:lnSpc>
              <a:buNone/>
            </a:pPr>
            <a:r>
              <a:rPr lang="en-US" sz="1500" dirty="0">
                <a:solidFill>
                  <a:srgbClr val="F6F4EE"/>
                </a:solidFill>
                <a:latin typeface="IBM Plex Sans" pitchFamily="34" charset="0"/>
                <a:ea typeface="IBM Plex Sans" pitchFamily="34" charset="-122"/>
                <a:cs typeface="IBM Plex Sans" pitchFamily="34" charset="-120"/>
              </a:rPr>
              <a:t>Code: private GitHub repo with README · Report: 2-page PDF · Questions?</a:t>
            </a:r>
            <a:endParaRPr lang="en-US" sz="1500" dirty="0"/>
          </a:p>
        </p:txBody>
      </p:sp>
      <p:sp>
        <p:nvSpPr>
          <p:cNvPr id="11" name="Text 9"/>
          <p:cNvSpPr/>
          <p:nvPr/>
        </p:nvSpPr>
        <p:spPr>
          <a:xfrm>
            <a:off x="812782" y="6238286"/>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Tejas Ponnappa (PES1UG24CS498) · Mukesh Sheregar (PES1UG24CS828)</a:t>
            </a:r>
            <a:endParaRPr lang="en-US" sz="1200" dirty="0"/>
          </a:p>
        </p:txBody>
      </p:sp>
      <p:sp>
        <p:nvSpPr>
          <p:cNvPr id="12" name="Text 10"/>
          <p:cNvSpPr/>
          <p:nvPr/>
        </p:nvSpPr>
        <p:spPr>
          <a:xfrm>
            <a:off x="10058418" y="6238286"/>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13 / 13</a:t>
            </a:r>
            <a:endParaRPr lang="en-US" sz="1200" dirty="0"/>
          </a:p>
        </p:txBody>
      </p:sp>
    </p:spTree>
  </p:cSld>
  <p:clrMapOvr>
    <a:masterClrMapping/>
  </p:clrMapOvr>
</p:sld>
</file>

<file path=ppt/theme/theme1.xml><?xml version="1.0" encoding="utf-8"?>
<a:theme xmlns:a="http://schemas.openxmlformats.org/drawingml/2006/main" name="Data-Driven Cloth: ML Mini-Project">
  <a:themeElements>
    <a:clrScheme name="Data-Driven Cloth: ML Mini-Project">
      <a:dk1>
        <a:srgbClr val="14213D"/>
      </a:dk1>
      <a:lt1>
        <a:srgbClr val="F6F4EE"/>
      </a:lt1>
      <a:dk2>
        <a:srgbClr val="4D5669"/>
      </a:dk2>
      <a:lt2>
        <a:srgbClr val="DFDFDC"/>
      </a:lt2>
      <a:accent1>
        <a:srgbClr val="17757A"/>
      </a:accent1>
      <a:accent2>
        <a:srgbClr val="E9B44C"/>
      </a:accent2>
      <a:accent3>
        <a:srgbClr val="3B4252"/>
      </a:accent3>
      <a:accent4>
        <a:srgbClr val="5B6472"/>
      </a:accent4>
      <a:accent5>
        <a:srgbClr val="D5DCE8"/>
      </a:accent5>
      <a:accent6>
        <a:srgbClr val="9AA0A6"/>
      </a:accent6>
      <a:hlink>
        <a:srgbClr val="0563C1"/>
      </a:hlink>
      <a:folHlink>
        <a:srgbClr val="954F72"/>
      </a:folHlink>
    </a:clrScheme>
    <a:fontScheme name="Data-Driven Cloth: ML Mini-Project">
      <a:majorFont>
        <a:latin typeface="EB 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Data-Driven Cloth: ML Mini-Project</dc:title>
  <dc:subject/>
  <dc:creator/>
  <cp:lastModifiedBy/>
  <cp:revision>1</cp:revision>
  <dcterms:created xsi:type="dcterms:W3CDTF">2026-10-07T17:28:21Z</dcterms:created>
  <dcterms:modified xsi:type="dcterms:W3CDTF">2026-10-07T17:28:21Z</dcterms:modified>
</cp:coreProperties>
</file>